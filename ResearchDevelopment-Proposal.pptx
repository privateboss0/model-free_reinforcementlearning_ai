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Anantason" panose="020B0604020202020204" charset="-34"/>
      <p:regular r:id="rId17"/>
    </p:embeddedFont>
    <p:embeddedFont>
      <p:font typeface="Anantason Bold" panose="020B0604020202020204" charset="-34"/>
      <p:regular r:id="rId18"/>
    </p:embeddedFont>
    <p:embeddedFont>
      <p:font typeface="Arimo" panose="020B0604020202020204" charset="0"/>
      <p:regular r:id="rId19"/>
    </p:embeddedFont>
    <p:embeddedFont>
      <p:font typeface="Arimo Bold" panose="020B0604020202020204" charset="0"/>
      <p:regular r:id="rId20"/>
    </p:embeddedFont>
    <p:embeddedFont>
      <p:font typeface="Muli" panose="020B0604020202020204" charset="0"/>
      <p:regular r:id="rId21"/>
    </p:embeddedFont>
    <p:embeddedFont>
      <p:font typeface="Muli Bold" panose="020B0604020202020204" charset="0"/>
      <p:regular r:id="rId22"/>
    </p:embeddedFont>
    <p:embeddedFont>
      <p:font typeface="Muli Semi-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5000FB-BFC9-4E39-AD9E-78B0FCA6C967}" v="5" dt="2025-12-13T11:32:48.9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80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inkunmi Ola" userId="e80fadc00ddcb2a5" providerId="LiveId" clId="{DD34A8B2-96EB-3006-85D6-53AE0B5862D1}"/>
    <pc:docChg chg="custSel modSld">
      <pc:chgData name="Akinkunmi Ola" userId="e80fadc00ddcb2a5" providerId="LiveId" clId="{DD34A8B2-96EB-3006-85D6-53AE0B5862D1}" dt="2025-12-13T08:43:04.342" v="28" actId="313"/>
      <pc:docMkLst>
        <pc:docMk/>
      </pc:docMkLst>
      <pc:sldChg chg="modSp mod">
        <pc:chgData name="Akinkunmi Ola" userId="e80fadc00ddcb2a5" providerId="LiveId" clId="{DD34A8B2-96EB-3006-85D6-53AE0B5862D1}" dt="2025-12-13T08:43:04.342" v="28" actId="313"/>
        <pc:sldMkLst>
          <pc:docMk/>
          <pc:sldMk cId="0" sldId="264"/>
        </pc:sldMkLst>
        <pc:spChg chg="mod">
          <ac:chgData name="Akinkunmi Ola" userId="e80fadc00ddcb2a5" providerId="LiveId" clId="{DD34A8B2-96EB-3006-85D6-53AE0B5862D1}" dt="2025-12-13T08:43:04.342" v="28" actId="313"/>
          <ac:spMkLst>
            <pc:docMk/>
            <pc:sldMk cId="0" sldId="264"/>
            <ac:spMk id="6" creationId="{00000000-0000-0000-0000-000000000000}"/>
          </ac:spMkLst>
        </pc:spChg>
      </pc:sldChg>
    </pc:docChg>
  </pc:docChgLst>
  <pc:docChgLst>
    <pc:chgData name="Akinkunmi Ola" userId="e80fadc00ddcb2a5" providerId="LiveId" clId="{C45000FB-BFC9-4E39-AD9E-78B0FCA6C967}"/>
    <pc:docChg chg="undo custSel modSld">
      <pc:chgData name="Akinkunmi Ola" userId="e80fadc00ddcb2a5" providerId="LiveId" clId="{C45000FB-BFC9-4E39-AD9E-78B0FCA6C967}" dt="2025-12-13T11:57:20.586" v="231" actId="20577"/>
      <pc:docMkLst>
        <pc:docMk/>
      </pc:docMkLst>
      <pc:sldChg chg="modSp mod">
        <pc:chgData name="Akinkunmi Ola" userId="e80fadc00ddcb2a5" providerId="LiveId" clId="{C45000FB-BFC9-4E39-AD9E-78B0FCA6C967}" dt="2025-12-13T11:48:28.707" v="44" actId="20577"/>
        <pc:sldMkLst>
          <pc:docMk/>
          <pc:sldMk cId="0" sldId="257"/>
        </pc:sldMkLst>
        <pc:graphicFrameChg chg="modGraphic">
          <ac:chgData name="Akinkunmi Ola" userId="e80fadc00ddcb2a5" providerId="LiveId" clId="{C45000FB-BFC9-4E39-AD9E-78B0FCA6C967}" dt="2025-12-13T11:48:28.707" v="44" actId="20577"/>
          <ac:graphicFrameMkLst>
            <pc:docMk/>
            <pc:sldMk cId="0" sldId="257"/>
            <ac:graphicFrameMk id="3" creationId="{00000000-0000-0000-0000-000000000000}"/>
          </ac:graphicFrameMkLst>
        </pc:graphicFrameChg>
      </pc:sldChg>
      <pc:sldChg chg="modSp mod">
        <pc:chgData name="Akinkunmi Ola" userId="e80fadc00ddcb2a5" providerId="LiveId" clId="{C45000FB-BFC9-4E39-AD9E-78B0FCA6C967}" dt="2025-12-13T10:41:19.769" v="22" actId="20577"/>
        <pc:sldMkLst>
          <pc:docMk/>
          <pc:sldMk cId="0" sldId="260"/>
        </pc:sldMkLst>
        <pc:spChg chg="mod">
          <ac:chgData name="Akinkunmi Ola" userId="e80fadc00ddcb2a5" providerId="LiveId" clId="{C45000FB-BFC9-4E39-AD9E-78B0FCA6C967}" dt="2025-12-13T10:41:19.769" v="22" actId="20577"/>
          <ac:spMkLst>
            <pc:docMk/>
            <pc:sldMk cId="0" sldId="260"/>
            <ac:spMk id="9" creationId="{00000000-0000-0000-0000-000000000000}"/>
          </ac:spMkLst>
        </pc:spChg>
      </pc:sldChg>
      <pc:sldChg chg="modSp mod">
        <pc:chgData name="Akinkunmi Ola" userId="e80fadc00ddcb2a5" providerId="LiveId" clId="{C45000FB-BFC9-4E39-AD9E-78B0FCA6C967}" dt="2025-12-13T11:57:20.586" v="231" actId="20577"/>
        <pc:sldMkLst>
          <pc:docMk/>
          <pc:sldMk cId="0" sldId="261"/>
        </pc:sldMkLst>
        <pc:spChg chg="mod">
          <ac:chgData name="Akinkunmi Ola" userId="e80fadc00ddcb2a5" providerId="LiveId" clId="{C45000FB-BFC9-4E39-AD9E-78B0FCA6C967}" dt="2025-12-13T11:57:20.586" v="231" actId="20577"/>
          <ac:spMkLst>
            <pc:docMk/>
            <pc:sldMk cId="0" sldId="261"/>
            <ac:spMk id="6" creationId="{00000000-0000-0000-0000-000000000000}"/>
          </ac:spMkLst>
        </pc:spChg>
      </pc:sldChg>
      <pc:sldChg chg="modSp mod">
        <pc:chgData name="Akinkunmi Ola" userId="e80fadc00ddcb2a5" providerId="LiveId" clId="{C45000FB-BFC9-4E39-AD9E-78B0FCA6C967}" dt="2025-12-13T11:35:10.403" v="40" actId="20577"/>
        <pc:sldMkLst>
          <pc:docMk/>
          <pc:sldMk cId="0" sldId="264"/>
        </pc:sldMkLst>
        <pc:graphicFrameChg chg="mod modGraphic">
          <ac:chgData name="Akinkunmi Ola" userId="e80fadc00ddcb2a5" providerId="LiveId" clId="{C45000FB-BFC9-4E39-AD9E-78B0FCA6C967}" dt="2025-12-13T11:35:10.403" v="40" actId="20577"/>
          <ac:graphicFrameMkLst>
            <pc:docMk/>
            <pc:sldMk cId="0" sldId="264"/>
            <ac:graphicFrameMk id="5" creationId="{00000000-0000-0000-0000-000000000000}"/>
          </ac:graphicFrameMkLst>
        </pc:graphicFrameChg>
      </pc:sldChg>
      <pc:sldChg chg="modSp mod">
        <pc:chgData name="Akinkunmi Ola" userId="e80fadc00ddcb2a5" providerId="LiveId" clId="{C45000FB-BFC9-4E39-AD9E-78B0FCA6C967}" dt="2025-12-13T11:36:30.748" v="42" actId="20577"/>
        <pc:sldMkLst>
          <pc:docMk/>
          <pc:sldMk cId="0" sldId="270"/>
        </pc:sldMkLst>
        <pc:spChg chg="mod">
          <ac:chgData name="Akinkunmi Ola" userId="e80fadc00ddcb2a5" providerId="LiveId" clId="{C45000FB-BFC9-4E39-AD9E-78B0FCA6C967}" dt="2025-12-13T11:36:30.748" v="42" actId="20577"/>
          <ac:spMkLst>
            <pc:docMk/>
            <pc:sldMk cId="0" sldId="270"/>
            <ac:spMk id="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4.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slideLayout" Target="../slideLayouts/slideLayout7.xml"/><Relationship Id="rId7" Type="http://schemas.openxmlformats.org/officeDocument/2006/relationships/image" Target="../media/image1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7.jpeg"/><Relationship Id="rId5" Type="http://schemas.openxmlformats.org/officeDocument/2006/relationships/image" Target="../media/image16.sv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7.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30.png"/><Relationship Id="rId3" Type="http://schemas.openxmlformats.org/officeDocument/2006/relationships/slideLayout" Target="../slideLayouts/slideLayout7.xml"/><Relationship Id="rId7" Type="http://schemas.openxmlformats.org/officeDocument/2006/relationships/image" Target="../media/image18.png"/><Relationship Id="rId12" Type="http://schemas.openxmlformats.org/officeDocument/2006/relationships/image" Target="../media/image29.sv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25.jpeg"/><Relationship Id="rId11" Type="http://schemas.openxmlformats.org/officeDocument/2006/relationships/image" Target="../media/image28.png"/><Relationship Id="rId5" Type="http://schemas.openxmlformats.org/officeDocument/2006/relationships/image" Target="../media/image16.svg"/><Relationship Id="rId10" Type="http://schemas.openxmlformats.org/officeDocument/2006/relationships/image" Target="../media/image27.svg"/><Relationship Id="rId4" Type="http://schemas.openxmlformats.org/officeDocument/2006/relationships/image" Target="../media/image15.png"/><Relationship Id="rId9" Type="http://schemas.openxmlformats.org/officeDocument/2006/relationships/image" Target="../media/image26.png"/><Relationship Id="rId14" Type="http://schemas.openxmlformats.org/officeDocument/2006/relationships/image" Target="../media/image31.sv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sv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sv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1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hyperlink" Target="https://www.ucop.edu/local-human-resources/_files/performance-appraisal/How+to+write+SMART+Goals+v2.pdf" TargetMode="External"/><Relationship Id="rId7" Type="http://schemas.openxmlformats.org/officeDocument/2006/relationships/hyperlink" Target="https://huggingface.co/privatebos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github.com/privateboss0/Model-Free_ReinforcementLearning_AI" TargetMode="External"/><Relationship Id="rId5" Type="http://schemas.openxmlformats.org/officeDocument/2006/relationships/hyperlink" Target="https://deepmind.google/research/publications/a-definition-of-continual-reinforcement-learning/" TargetMode="External"/><Relationship Id="rId4" Type="http://schemas.openxmlformats.org/officeDocument/2006/relationships/hyperlink" Target="https://ecp.engineering.utoronto.ca/resources/online-handbook/types-of-documents/proposal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sp>
        <p:nvSpPr>
          <p:cNvPr id="3" name="Freeform 3"/>
          <p:cNvSpPr/>
          <p:nvPr/>
        </p:nvSpPr>
        <p:spPr>
          <a:xfrm>
            <a:off x="15865972" y="-1942437"/>
            <a:ext cx="6879800" cy="7085937"/>
          </a:xfrm>
          <a:custGeom>
            <a:avLst/>
            <a:gdLst/>
            <a:ahLst/>
            <a:cxnLst/>
            <a:rect l="l" t="t" r="r" b="b"/>
            <a:pathLst>
              <a:path w="6879800" h="7085937">
                <a:moveTo>
                  <a:pt x="0" y="0"/>
                </a:moveTo>
                <a:lnTo>
                  <a:pt x="6879800" y="0"/>
                </a:lnTo>
                <a:lnTo>
                  <a:pt x="6879800" y="7085937"/>
                </a:lnTo>
                <a:lnTo>
                  <a:pt x="0" y="70859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10832401" y="2564352"/>
            <a:ext cx="5861754" cy="6358905"/>
          </a:xfrm>
          <a:custGeom>
            <a:avLst/>
            <a:gdLst/>
            <a:ahLst/>
            <a:cxnLst/>
            <a:rect l="l" t="t" r="r" b="b"/>
            <a:pathLst>
              <a:path w="5861754" h="6358905">
                <a:moveTo>
                  <a:pt x="0" y="0"/>
                </a:moveTo>
                <a:lnTo>
                  <a:pt x="5861754" y="0"/>
                </a:lnTo>
                <a:lnTo>
                  <a:pt x="5861754" y="6358905"/>
                </a:lnTo>
                <a:lnTo>
                  <a:pt x="0" y="63589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CA"/>
          </a:p>
        </p:txBody>
      </p:sp>
      <p:sp>
        <p:nvSpPr>
          <p:cNvPr id="5" name="Freeform 5"/>
          <p:cNvSpPr/>
          <p:nvPr/>
        </p:nvSpPr>
        <p:spPr>
          <a:xfrm rot="787604">
            <a:off x="11861347" y="3972457"/>
            <a:ext cx="6224985" cy="6224985"/>
          </a:xfrm>
          <a:custGeom>
            <a:avLst/>
            <a:gdLst/>
            <a:ahLst/>
            <a:cxnLst/>
            <a:rect l="l" t="t" r="r" b="b"/>
            <a:pathLst>
              <a:path w="6224985" h="6224985">
                <a:moveTo>
                  <a:pt x="0" y="0"/>
                </a:moveTo>
                <a:lnTo>
                  <a:pt x="6224984" y="0"/>
                </a:lnTo>
                <a:lnTo>
                  <a:pt x="6224984" y="6224985"/>
                </a:lnTo>
                <a:lnTo>
                  <a:pt x="0" y="622498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CA"/>
          </a:p>
        </p:txBody>
      </p:sp>
      <p:sp>
        <p:nvSpPr>
          <p:cNvPr id="6" name="Freeform 6"/>
          <p:cNvSpPr/>
          <p:nvPr/>
        </p:nvSpPr>
        <p:spPr>
          <a:xfrm>
            <a:off x="-3840930" y="5815487"/>
            <a:ext cx="5949511" cy="6127774"/>
          </a:xfrm>
          <a:custGeom>
            <a:avLst/>
            <a:gdLst/>
            <a:ahLst/>
            <a:cxnLst/>
            <a:rect l="l" t="t" r="r" b="b"/>
            <a:pathLst>
              <a:path w="5949511" h="6127774">
                <a:moveTo>
                  <a:pt x="0" y="0"/>
                </a:moveTo>
                <a:lnTo>
                  <a:pt x="5949512" y="0"/>
                </a:lnTo>
                <a:lnTo>
                  <a:pt x="5949512" y="6127774"/>
                </a:lnTo>
                <a:lnTo>
                  <a:pt x="0" y="612777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CA"/>
          </a:p>
        </p:txBody>
      </p:sp>
      <p:sp>
        <p:nvSpPr>
          <p:cNvPr id="7" name="TextBox 7"/>
          <p:cNvSpPr txBox="1"/>
          <p:nvPr/>
        </p:nvSpPr>
        <p:spPr>
          <a:xfrm>
            <a:off x="418332" y="2503653"/>
            <a:ext cx="10414069" cy="4176776"/>
          </a:xfrm>
          <a:prstGeom prst="rect">
            <a:avLst/>
          </a:prstGeom>
        </p:spPr>
        <p:txBody>
          <a:bodyPr lIns="0" tIns="0" rIns="0" bIns="0" rtlCol="0" anchor="t">
            <a:spAutoFit/>
          </a:bodyPr>
          <a:lstStyle/>
          <a:p>
            <a:pPr algn="l">
              <a:lnSpc>
                <a:spcPts val="6591"/>
              </a:lnSpc>
            </a:pPr>
            <a:r>
              <a:rPr lang="en-US" sz="6399">
                <a:solidFill>
                  <a:srgbClr val="000000"/>
                </a:solidFill>
                <a:latin typeface="Anantason"/>
                <a:ea typeface="Anantason"/>
                <a:cs typeface="Anantason"/>
                <a:sym typeface="Anantason"/>
              </a:rPr>
              <a:t>Proposal for the Development, Training and Evaluation of Autonomous Transport Agents using Reinforcement Learning.</a:t>
            </a:r>
          </a:p>
        </p:txBody>
      </p:sp>
      <p:sp>
        <p:nvSpPr>
          <p:cNvPr id="8" name="TextBox 8"/>
          <p:cNvSpPr txBox="1"/>
          <p:nvPr/>
        </p:nvSpPr>
        <p:spPr>
          <a:xfrm>
            <a:off x="1152146" y="8014335"/>
            <a:ext cx="6631941" cy="1243965"/>
          </a:xfrm>
          <a:prstGeom prst="rect">
            <a:avLst/>
          </a:prstGeom>
        </p:spPr>
        <p:txBody>
          <a:bodyPr lIns="0" tIns="0" rIns="0" bIns="0" rtlCol="0" anchor="t">
            <a:spAutoFit/>
          </a:bodyPr>
          <a:lstStyle/>
          <a:p>
            <a:pPr algn="l">
              <a:lnSpc>
                <a:spcPts val="3359"/>
              </a:lnSpc>
            </a:pPr>
            <a:r>
              <a:rPr lang="en-US" sz="2400">
                <a:solidFill>
                  <a:srgbClr val="000000"/>
                </a:solidFill>
                <a:latin typeface="Muli"/>
                <a:ea typeface="Muli"/>
                <a:cs typeface="Muli"/>
                <a:sym typeface="Muli"/>
              </a:rPr>
              <a:t>Safe and Robust Reinforcement Learning in Transportation Agent Decision-Making with Real-Time constraint satisfaction.</a:t>
            </a:r>
          </a:p>
        </p:txBody>
      </p:sp>
      <p:sp>
        <p:nvSpPr>
          <p:cNvPr id="9" name="Freeform 9"/>
          <p:cNvSpPr/>
          <p:nvPr/>
        </p:nvSpPr>
        <p:spPr>
          <a:xfrm rot="-5059781">
            <a:off x="14698195" y="6303828"/>
            <a:ext cx="1443420" cy="753203"/>
          </a:xfrm>
          <a:custGeom>
            <a:avLst/>
            <a:gdLst/>
            <a:ahLst/>
            <a:cxnLst/>
            <a:rect l="l" t="t" r="r" b="b"/>
            <a:pathLst>
              <a:path w="1443420" h="753203">
                <a:moveTo>
                  <a:pt x="0" y="0"/>
                </a:moveTo>
                <a:lnTo>
                  <a:pt x="1443420" y="0"/>
                </a:lnTo>
                <a:lnTo>
                  <a:pt x="1443420" y="753203"/>
                </a:lnTo>
                <a:lnTo>
                  <a:pt x="0" y="75320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CA"/>
          </a:p>
        </p:txBody>
      </p:sp>
      <p:sp>
        <p:nvSpPr>
          <p:cNvPr id="10" name="Freeform 10"/>
          <p:cNvSpPr/>
          <p:nvPr/>
        </p:nvSpPr>
        <p:spPr>
          <a:xfrm>
            <a:off x="12592955" y="3773851"/>
            <a:ext cx="1170323" cy="1170323"/>
          </a:xfrm>
          <a:custGeom>
            <a:avLst/>
            <a:gdLst/>
            <a:ahLst/>
            <a:cxnLst/>
            <a:rect l="l" t="t" r="r" b="b"/>
            <a:pathLst>
              <a:path w="1170323" h="1170323">
                <a:moveTo>
                  <a:pt x="0" y="0"/>
                </a:moveTo>
                <a:lnTo>
                  <a:pt x="1170323" y="0"/>
                </a:lnTo>
                <a:lnTo>
                  <a:pt x="1170323" y="1170323"/>
                </a:lnTo>
                <a:lnTo>
                  <a:pt x="0" y="117032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CA"/>
          </a:p>
        </p:txBody>
      </p:sp>
      <p:grpSp>
        <p:nvGrpSpPr>
          <p:cNvPr id="11" name="Group 11"/>
          <p:cNvGrpSpPr/>
          <p:nvPr/>
        </p:nvGrpSpPr>
        <p:grpSpPr>
          <a:xfrm>
            <a:off x="11003761" y="842679"/>
            <a:ext cx="6255539" cy="1481752"/>
            <a:chOff x="0" y="0"/>
            <a:chExt cx="8340719" cy="1975670"/>
          </a:xfrm>
        </p:grpSpPr>
        <p:sp>
          <p:nvSpPr>
            <p:cNvPr id="12" name="TextBox 12"/>
            <p:cNvSpPr txBox="1"/>
            <p:nvPr/>
          </p:nvSpPr>
          <p:spPr>
            <a:xfrm>
              <a:off x="3590914" y="-19050"/>
              <a:ext cx="4749804" cy="464397"/>
            </a:xfrm>
            <a:prstGeom prst="rect">
              <a:avLst/>
            </a:prstGeom>
          </p:spPr>
          <p:txBody>
            <a:bodyPr lIns="0" tIns="0" rIns="0" bIns="0" rtlCol="0" anchor="t">
              <a:spAutoFit/>
            </a:bodyPr>
            <a:lstStyle/>
            <a:p>
              <a:pPr marL="0" lvl="0" indent="0" algn="r">
                <a:lnSpc>
                  <a:spcPts val="2859"/>
                </a:lnSpc>
                <a:spcBef>
                  <a:spcPct val="0"/>
                </a:spcBef>
              </a:pPr>
              <a:r>
                <a:rPr lang="en-US" sz="2199" b="1" u="none" spc="191">
                  <a:solidFill>
                    <a:srgbClr val="000000"/>
                  </a:solidFill>
                  <a:latin typeface="Anantason Bold"/>
                  <a:ea typeface="Anantason Bold"/>
                  <a:cs typeface="Anantason Bold"/>
                  <a:sym typeface="Anantason Bold"/>
                </a:rPr>
                <a:t>PRESENTED BY</a:t>
              </a:r>
            </a:p>
          </p:txBody>
        </p:sp>
        <p:sp>
          <p:nvSpPr>
            <p:cNvPr id="13" name="TextBox 13"/>
            <p:cNvSpPr txBox="1"/>
            <p:nvPr/>
          </p:nvSpPr>
          <p:spPr>
            <a:xfrm>
              <a:off x="0" y="546073"/>
              <a:ext cx="8340719" cy="1429597"/>
            </a:xfrm>
            <a:prstGeom prst="rect">
              <a:avLst/>
            </a:prstGeom>
          </p:spPr>
          <p:txBody>
            <a:bodyPr lIns="0" tIns="0" rIns="0" bIns="0" rtlCol="0" anchor="t">
              <a:spAutoFit/>
            </a:bodyPr>
            <a:lstStyle/>
            <a:p>
              <a:pPr algn="r">
                <a:lnSpc>
                  <a:spcPts val="2859"/>
                </a:lnSpc>
              </a:pPr>
              <a:r>
                <a:rPr lang="en-US" sz="2199">
                  <a:solidFill>
                    <a:srgbClr val="000000"/>
                  </a:solidFill>
                  <a:latin typeface="Muli"/>
                  <a:ea typeface="Muli"/>
                  <a:cs typeface="Muli"/>
                  <a:sym typeface="Muli"/>
                </a:rPr>
                <a:t>Ola Akinkunmi</a:t>
              </a:r>
            </a:p>
            <a:p>
              <a:pPr algn="r">
                <a:lnSpc>
                  <a:spcPts val="2859"/>
                </a:lnSpc>
              </a:pPr>
              <a:r>
                <a:rPr lang="en-US" sz="2199">
                  <a:solidFill>
                    <a:srgbClr val="000000"/>
                  </a:solidFill>
                  <a:latin typeface="Muli"/>
                  <a:ea typeface="Muli"/>
                  <a:cs typeface="Muli"/>
                  <a:sym typeface="Muli"/>
                </a:rPr>
                <a:t>in patial fulfilment for</a:t>
              </a:r>
            </a:p>
            <a:p>
              <a:pPr marL="0" lvl="0" indent="0" algn="r">
                <a:lnSpc>
                  <a:spcPts val="2859"/>
                </a:lnSpc>
                <a:spcBef>
                  <a:spcPct val="0"/>
                </a:spcBef>
              </a:pPr>
              <a:r>
                <a:rPr lang="en-US" sz="2199" b="1">
                  <a:solidFill>
                    <a:srgbClr val="000000"/>
                  </a:solidFill>
                  <a:latin typeface="Muli Bold"/>
                  <a:ea typeface="Muli Bold"/>
                  <a:cs typeface="Muli Bold"/>
                  <a:sym typeface="Muli Bold"/>
                </a:rPr>
                <a:t>Doctorate of Transportation Engineering</a:t>
              </a:r>
              <a:r>
                <a:rPr lang="en-US" sz="2199">
                  <a:solidFill>
                    <a:srgbClr val="000000"/>
                  </a:solidFill>
                  <a:latin typeface="Muli"/>
                  <a:ea typeface="Muli"/>
                  <a:cs typeface="Muli"/>
                  <a:sym typeface="Muli"/>
                </a:rPr>
                <a:t> </a:t>
              </a:r>
            </a:p>
          </p:txBody>
        </p:sp>
      </p:grpSp>
      <p:sp>
        <p:nvSpPr>
          <p:cNvPr id="14" name="TextBox 14"/>
          <p:cNvSpPr txBox="1"/>
          <p:nvPr/>
        </p:nvSpPr>
        <p:spPr>
          <a:xfrm>
            <a:off x="327405" y="823629"/>
            <a:ext cx="3562353" cy="353060"/>
          </a:xfrm>
          <a:prstGeom prst="rect">
            <a:avLst/>
          </a:prstGeom>
        </p:spPr>
        <p:txBody>
          <a:bodyPr lIns="0" tIns="0" rIns="0" bIns="0" rtlCol="0" anchor="t">
            <a:spAutoFit/>
          </a:bodyPr>
          <a:lstStyle/>
          <a:p>
            <a:pPr marL="0" lvl="0" indent="0" algn="ctr">
              <a:lnSpc>
                <a:spcPts val="2859"/>
              </a:lnSpc>
              <a:spcBef>
                <a:spcPct val="0"/>
              </a:spcBef>
            </a:pPr>
            <a:r>
              <a:rPr lang="en-US" sz="2199" b="1">
                <a:solidFill>
                  <a:srgbClr val="000000"/>
                </a:solidFill>
                <a:latin typeface="Muli Semi-Bold"/>
                <a:ea typeface="Muli Semi-Bold"/>
                <a:cs typeface="Muli Semi-Bold"/>
                <a:sym typeface="Muli Semi-Bold"/>
              </a:rPr>
              <a:t>12-15-2025</a:t>
            </a:r>
          </a:p>
        </p:txBody>
      </p:sp>
      <p:sp>
        <p:nvSpPr>
          <p:cNvPr id="15" name="TextBox 15"/>
          <p:cNvSpPr txBox="1"/>
          <p:nvPr/>
        </p:nvSpPr>
        <p:spPr>
          <a:xfrm>
            <a:off x="9895394" y="9240910"/>
            <a:ext cx="3217512" cy="411651"/>
          </a:xfrm>
          <a:prstGeom prst="rect">
            <a:avLst/>
          </a:prstGeom>
        </p:spPr>
        <p:txBody>
          <a:bodyPr wrap="square" lIns="0" tIns="0" rIns="0" bIns="0" rtlCol="0" anchor="t">
            <a:spAutoFit/>
          </a:bodyPr>
          <a:lstStyle/>
          <a:p>
            <a:pPr algn="ctr">
              <a:lnSpc>
                <a:spcPts val="3240"/>
              </a:lnSpc>
              <a:spcBef>
                <a:spcPct val="0"/>
              </a:spcBef>
            </a:pPr>
            <a:r>
              <a:rPr lang="en-US" sz="2700" dirty="0">
                <a:solidFill>
                  <a:srgbClr val="000000"/>
                </a:solidFill>
                <a:latin typeface="Anantason"/>
                <a:ea typeface="Anantason"/>
                <a:cs typeface="Anantason"/>
                <a:sym typeface="Anantason"/>
              </a:rPr>
              <a:t>aola@tongji.edu.cn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88009" y="258466"/>
            <a:ext cx="9422943" cy="9705278"/>
          </a:xfrm>
          <a:custGeom>
            <a:avLst/>
            <a:gdLst/>
            <a:ahLst/>
            <a:cxnLst/>
            <a:rect l="l" t="t" r="r" b="b"/>
            <a:pathLst>
              <a:path w="9422943" h="9705278">
                <a:moveTo>
                  <a:pt x="0" y="0"/>
                </a:moveTo>
                <a:lnTo>
                  <a:pt x="9422943" y="0"/>
                </a:lnTo>
                <a:lnTo>
                  <a:pt x="9422943" y="9705278"/>
                </a:lnTo>
                <a:lnTo>
                  <a:pt x="0" y="97052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aphicFrame>
        <p:nvGraphicFramePr>
          <p:cNvPr id="3" name="Table 3"/>
          <p:cNvGraphicFramePr>
            <a:graphicFrameLocks noGrp="1"/>
          </p:cNvGraphicFramePr>
          <p:nvPr>
            <p:extLst>
              <p:ext uri="{D42A27DB-BD31-4B8C-83A1-F6EECF244321}">
                <p14:modId xmlns:p14="http://schemas.microsoft.com/office/powerpoint/2010/main" val="961572201"/>
              </p:ext>
            </p:extLst>
          </p:nvPr>
        </p:nvGraphicFramePr>
        <p:xfrm>
          <a:off x="8093100" y="0"/>
          <a:ext cx="9646964" cy="10411435"/>
        </p:xfrm>
        <a:graphic>
          <a:graphicData uri="http://schemas.openxmlformats.org/drawingml/2006/table">
            <a:tbl>
              <a:tblPr/>
              <a:tblGrid>
                <a:gridCol w="2157668">
                  <a:extLst>
                    <a:ext uri="{9D8B030D-6E8A-4147-A177-3AD203B41FA5}">
                      <a16:colId xmlns:a16="http://schemas.microsoft.com/office/drawing/2014/main" val="20000"/>
                    </a:ext>
                  </a:extLst>
                </a:gridCol>
                <a:gridCol w="7489296">
                  <a:extLst>
                    <a:ext uri="{9D8B030D-6E8A-4147-A177-3AD203B41FA5}">
                      <a16:colId xmlns:a16="http://schemas.microsoft.com/office/drawing/2014/main" val="20001"/>
                    </a:ext>
                  </a:extLst>
                </a:gridCol>
              </a:tblGrid>
              <a:tr h="1181989">
                <a:tc>
                  <a:txBody>
                    <a:bodyPr/>
                    <a:lstStyle/>
                    <a:p>
                      <a:pPr algn="ctr">
                        <a:lnSpc>
                          <a:spcPts val="3359"/>
                        </a:lnSpc>
                        <a:defRPr/>
                      </a:pPr>
                      <a:r>
                        <a:rPr lang="en-US" sz="2399" b="1">
                          <a:solidFill>
                            <a:srgbClr val="000000">
                              <a:alpha val="84706"/>
                            </a:srgbClr>
                          </a:solidFill>
                          <a:latin typeface="Anantason Bold"/>
                          <a:ea typeface="Anantason Bold"/>
                          <a:cs typeface="Anantason Bold"/>
                          <a:sym typeface="Anantason Bold"/>
                        </a:rPr>
                        <a:t>3</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6CE0A9">
                        <a:alpha val="84706"/>
                      </a:srgbClr>
                    </a:solidFill>
                  </a:tcPr>
                </a:tc>
                <a:tc>
                  <a:txBody>
                    <a:bodyPr/>
                    <a:lstStyle/>
                    <a:p>
                      <a:pPr algn="l">
                        <a:lnSpc>
                          <a:spcPts val="3919"/>
                        </a:lnSpc>
                        <a:defRPr/>
                      </a:pPr>
                      <a:r>
                        <a:rPr lang="en-US" sz="2799" u="sng">
                          <a:solidFill>
                            <a:srgbClr val="000000">
                              <a:alpha val="84706"/>
                            </a:srgbClr>
                          </a:solidFill>
                          <a:latin typeface="Muli"/>
                          <a:ea typeface="Muli"/>
                          <a:cs typeface="Muli"/>
                          <a:sym typeface="Muli"/>
                          <a:hlinkClick r:id="rId4" action="ppaction://hlinksldjump"/>
                        </a:rPr>
                        <a:t>Background of the Study</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alpha val="84706"/>
                      </a:srgbClr>
                    </a:solidFill>
                  </a:tcPr>
                </a:tc>
                <a:extLst>
                  <a:ext uri="{0D108BD9-81ED-4DB2-BD59-A6C34878D82A}">
                    <a16:rowId xmlns:a16="http://schemas.microsoft.com/office/drawing/2014/main" val="10000"/>
                  </a:ext>
                </a:extLst>
              </a:tr>
              <a:tr h="1068756">
                <a:tc>
                  <a:txBody>
                    <a:bodyPr/>
                    <a:lstStyle/>
                    <a:p>
                      <a:pPr algn="ctr">
                        <a:lnSpc>
                          <a:spcPts val="3359"/>
                        </a:lnSpc>
                        <a:defRPr/>
                      </a:pPr>
                      <a:r>
                        <a:rPr lang="en-US" sz="2399" b="1">
                          <a:solidFill>
                            <a:srgbClr val="000000">
                              <a:alpha val="84706"/>
                            </a:srgbClr>
                          </a:solidFill>
                          <a:latin typeface="Anantason Bold"/>
                          <a:ea typeface="Anantason Bold"/>
                          <a:cs typeface="Anantason Bold"/>
                          <a:sym typeface="Anantason Bold"/>
                        </a:rPr>
                        <a:t>4</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6CE0A9">
                        <a:alpha val="84706"/>
                      </a:srgbClr>
                    </a:solidFill>
                  </a:tcPr>
                </a:tc>
                <a:tc>
                  <a:txBody>
                    <a:bodyPr/>
                    <a:lstStyle/>
                    <a:p>
                      <a:pPr algn="l">
                        <a:lnSpc>
                          <a:spcPts val="3919"/>
                        </a:lnSpc>
                        <a:defRPr/>
                      </a:pPr>
                      <a:r>
                        <a:rPr lang="en-US" sz="2799" u="sng">
                          <a:solidFill>
                            <a:srgbClr val="000000">
                              <a:alpha val="84706"/>
                            </a:srgbClr>
                          </a:solidFill>
                          <a:latin typeface="Muli"/>
                          <a:ea typeface="Muli"/>
                          <a:cs typeface="Muli"/>
                          <a:sym typeface="Muli"/>
                          <a:hlinkClick r:id="rId5" action="ppaction://hlinksldjump"/>
                        </a:rPr>
                        <a:t>Problem Statement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alpha val="84706"/>
                      </a:srgbClr>
                    </a:solidFill>
                  </a:tcPr>
                </a:tc>
                <a:extLst>
                  <a:ext uri="{0D108BD9-81ED-4DB2-BD59-A6C34878D82A}">
                    <a16:rowId xmlns:a16="http://schemas.microsoft.com/office/drawing/2014/main" val="10001"/>
                  </a:ext>
                </a:extLst>
              </a:tr>
              <a:tr h="1181989">
                <a:tc>
                  <a:txBody>
                    <a:bodyPr/>
                    <a:lstStyle/>
                    <a:p>
                      <a:pPr algn="ctr">
                        <a:lnSpc>
                          <a:spcPts val="3359"/>
                        </a:lnSpc>
                        <a:defRPr/>
                      </a:pPr>
                      <a:r>
                        <a:rPr lang="en-US" sz="2399" b="1">
                          <a:solidFill>
                            <a:srgbClr val="000000">
                              <a:alpha val="84706"/>
                            </a:srgbClr>
                          </a:solidFill>
                          <a:latin typeface="Anantason Bold"/>
                          <a:ea typeface="Anantason Bold"/>
                          <a:cs typeface="Anantason Bold"/>
                          <a:sym typeface="Anantason Bold"/>
                        </a:rPr>
                        <a:t>5</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6CE0A9">
                        <a:alpha val="84706"/>
                      </a:srgbClr>
                    </a:solidFill>
                  </a:tcPr>
                </a:tc>
                <a:tc>
                  <a:txBody>
                    <a:bodyPr/>
                    <a:lstStyle/>
                    <a:p>
                      <a:pPr algn="l">
                        <a:lnSpc>
                          <a:spcPts val="3919"/>
                        </a:lnSpc>
                        <a:defRPr/>
                      </a:pPr>
                      <a:r>
                        <a:rPr lang="en-US" sz="2799" u="sng">
                          <a:solidFill>
                            <a:srgbClr val="000000">
                              <a:alpha val="84706"/>
                            </a:srgbClr>
                          </a:solidFill>
                          <a:latin typeface="Muli"/>
                          <a:ea typeface="Muli"/>
                          <a:cs typeface="Muli"/>
                          <a:sym typeface="Muli"/>
                        </a:rPr>
                        <a:t>Introduction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alpha val="84706"/>
                      </a:srgbClr>
                    </a:solidFill>
                  </a:tcPr>
                </a:tc>
                <a:extLst>
                  <a:ext uri="{0D108BD9-81ED-4DB2-BD59-A6C34878D82A}">
                    <a16:rowId xmlns:a16="http://schemas.microsoft.com/office/drawing/2014/main" val="10002"/>
                  </a:ext>
                </a:extLst>
              </a:tr>
              <a:tr h="1181989">
                <a:tc>
                  <a:txBody>
                    <a:bodyPr/>
                    <a:lstStyle/>
                    <a:p>
                      <a:pPr algn="ctr">
                        <a:lnSpc>
                          <a:spcPts val="3359"/>
                        </a:lnSpc>
                        <a:defRPr/>
                      </a:pPr>
                      <a:r>
                        <a:rPr lang="en-US" sz="2399" b="1">
                          <a:solidFill>
                            <a:srgbClr val="000000">
                              <a:alpha val="84706"/>
                            </a:srgbClr>
                          </a:solidFill>
                          <a:latin typeface="Anantason Bold"/>
                          <a:ea typeface="Anantason Bold"/>
                          <a:cs typeface="Anantason Bold"/>
                          <a:sym typeface="Anantason Bold"/>
                        </a:rPr>
                        <a:t>6</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6CE0A9">
                        <a:alpha val="84706"/>
                      </a:srgbClr>
                    </a:solidFill>
                  </a:tcPr>
                </a:tc>
                <a:tc>
                  <a:txBody>
                    <a:bodyPr/>
                    <a:lstStyle/>
                    <a:p>
                      <a:pPr algn="l">
                        <a:lnSpc>
                          <a:spcPts val="3919"/>
                        </a:lnSpc>
                        <a:defRPr/>
                      </a:pPr>
                      <a:r>
                        <a:rPr lang="en-US" sz="2799" u="sng">
                          <a:solidFill>
                            <a:srgbClr val="000000">
                              <a:alpha val="84706"/>
                            </a:srgbClr>
                          </a:solidFill>
                          <a:latin typeface="Muli"/>
                          <a:ea typeface="Muli"/>
                          <a:cs typeface="Muli"/>
                          <a:sym typeface="Muli"/>
                          <a:hlinkClick r:id="rId6" action="ppaction://hlinksldjump"/>
                        </a:rPr>
                        <a:t>Framework guiding the research</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alpha val="84706"/>
                      </a:srgbClr>
                    </a:solidFill>
                  </a:tcPr>
                </a:tc>
                <a:extLst>
                  <a:ext uri="{0D108BD9-81ED-4DB2-BD59-A6C34878D82A}">
                    <a16:rowId xmlns:a16="http://schemas.microsoft.com/office/drawing/2014/main" val="10003"/>
                  </a:ext>
                </a:extLst>
              </a:tr>
              <a:tr h="1181989">
                <a:tc>
                  <a:txBody>
                    <a:bodyPr/>
                    <a:lstStyle/>
                    <a:p>
                      <a:pPr algn="ctr">
                        <a:lnSpc>
                          <a:spcPts val="3359"/>
                        </a:lnSpc>
                        <a:defRPr/>
                      </a:pPr>
                      <a:r>
                        <a:rPr lang="en-US" sz="2399" b="1">
                          <a:solidFill>
                            <a:srgbClr val="000000">
                              <a:alpha val="84706"/>
                            </a:srgbClr>
                          </a:solidFill>
                          <a:latin typeface="Anantason Bold"/>
                          <a:ea typeface="Anantason Bold"/>
                          <a:cs typeface="Anantason Bold"/>
                          <a:sym typeface="Anantason Bold"/>
                        </a:rPr>
                        <a:t>7</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6CE0A9">
                        <a:alpha val="84706"/>
                      </a:srgbClr>
                    </a:solidFill>
                  </a:tcPr>
                </a:tc>
                <a:tc>
                  <a:txBody>
                    <a:bodyPr/>
                    <a:lstStyle/>
                    <a:p>
                      <a:pPr algn="l">
                        <a:lnSpc>
                          <a:spcPts val="3919"/>
                        </a:lnSpc>
                        <a:defRPr/>
                      </a:pPr>
                      <a:r>
                        <a:rPr lang="en-US" sz="2799" u="sng">
                          <a:solidFill>
                            <a:srgbClr val="000000">
                              <a:alpha val="84706"/>
                            </a:srgbClr>
                          </a:solidFill>
                          <a:latin typeface="Muli"/>
                          <a:ea typeface="Muli"/>
                          <a:cs typeface="Muli"/>
                          <a:sym typeface="Muli"/>
                        </a:rPr>
                        <a:t>Research Questions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alpha val="84706"/>
                      </a:srgbClr>
                    </a:solidFill>
                  </a:tcPr>
                </a:tc>
                <a:extLst>
                  <a:ext uri="{0D108BD9-81ED-4DB2-BD59-A6C34878D82A}">
                    <a16:rowId xmlns:a16="http://schemas.microsoft.com/office/drawing/2014/main" val="10004"/>
                  </a:ext>
                </a:extLst>
              </a:tr>
              <a:tr h="1068756">
                <a:tc>
                  <a:txBody>
                    <a:bodyPr/>
                    <a:lstStyle/>
                    <a:p>
                      <a:pPr algn="ctr">
                        <a:lnSpc>
                          <a:spcPts val="3359"/>
                        </a:lnSpc>
                        <a:defRPr/>
                      </a:pPr>
                      <a:r>
                        <a:rPr lang="en-US" sz="2399" b="1">
                          <a:solidFill>
                            <a:srgbClr val="000000">
                              <a:alpha val="84706"/>
                            </a:srgbClr>
                          </a:solidFill>
                          <a:latin typeface="Anantason Bold"/>
                          <a:ea typeface="Anantason Bold"/>
                          <a:cs typeface="Anantason Bold"/>
                          <a:sym typeface="Anantason Bold"/>
                        </a:rPr>
                        <a:t>8</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6CE0A9">
                        <a:alpha val="84706"/>
                      </a:srgbClr>
                    </a:solidFill>
                  </a:tcPr>
                </a:tc>
                <a:tc>
                  <a:txBody>
                    <a:bodyPr/>
                    <a:lstStyle/>
                    <a:p>
                      <a:pPr algn="l">
                        <a:lnSpc>
                          <a:spcPts val="3919"/>
                        </a:lnSpc>
                        <a:defRPr/>
                      </a:pPr>
                      <a:r>
                        <a:rPr lang="en-US" sz="2799" u="sng">
                          <a:solidFill>
                            <a:srgbClr val="000000">
                              <a:alpha val="84706"/>
                            </a:srgbClr>
                          </a:solidFill>
                          <a:latin typeface="Muli"/>
                          <a:ea typeface="Muli"/>
                          <a:cs typeface="Muli"/>
                          <a:sym typeface="Muli"/>
                        </a:rPr>
                        <a:t>Design and Methodology</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alpha val="84706"/>
                      </a:srgbClr>
                    </a:solidFill>
                  </a:tcPr>
                </a:tc>
                <a:extLst>
                  <a:ext uri="{0D108BD9-81ED-4DB2-BD59-A6C34878D82A}">
                    <a16:rowId xmlns:a16="http://schemas.microsoft.com/office/drawing/2014/main" val="10005"/>
                  </a:ext>
                </a:extLst>
              </a:tr>
              <a:tr h="1181989">
                <a:tc>
                  <a:txBody>
                    <a:bodyPr/>
                    <a:lstStyle/>
                    <a:p>
                      <a:pPr algn="ctr">
                        <a:lnSpc>
                          <a:spcPts val="3359"/>
                        </a:lnSpc>
                        <a:defRPr/>
                      </a:pPr>
                      <a:r>
                        <a:rPr lang="en-US" sz="2399" b="1">
                          <a:solidFill>
                            <a:srgbClr val="000000">
                              <a:alpha val="84706"/>
                            </a:srgbClr>
                          </a:solidFill>
                          <a:latin typeface="Anantason Bold"/>
                          <a:ea typeface="Anantason Bold"/>
                          <a:cs typeface="Anantason Bold"/>
                          <a:sym typeface="Anantason Bold"/>
                        </a:rPr>
                        <a:t>9</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6CE0A9">
                        <a:alpha val="84706"/>
                      </a:srgbClr>
                    </a:solidFill>
                  </a:tcPr>
                </a:tc>
                <a:tc>
                  <a:txBody>
                    <a:bodyPr/>
                    <a:lstStyle/>
                    <a:p>
                      <a:pPr algn="l">
                        <a:lnSpc>
                          <a:spcPts val="3919"/>
                        </a:lnSpc>
                        <a:defRPr/>
                      </a:pPr>
                      <a:r>
                        <a:rPr lang="en-US" sz="2799" u="sng">
                          <a:solidFill>
                            <a:srgbClr val="000000">
                              <a:alpha val="84706"/>
                            </a:srgbClr>
                          </a:solidFill>
                          <a:latin typeface="Muli"/>
                          <a:ea typeface="Muli"/>
                          <a:cs typeface="Muli"/>
                          <a:sym typeface="Muli"/>
                        </a:rPr>
                        <a:t>Comparative Analysis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alpha val="84706"/>
                      </a:srgbClr>
                    </a:solidFill>
                  </a:tcPr>
                </a:tc>
                <a:extLst>
                  <a:ext uri="{0D108BD9-81ED-4DB2-BD59-A6C34878D82A}">
                    <a16:rowId xmlns:a16="http://schemas.microsoft.com/office/drawing/2014/main" val="10006"/>
                  </a:ext>
                </a:extLst>
              </a:tr>
              <a:tr h="1181989">
                <a:tc>
                  <a:txBody>
                    <a:bodyPr/>
                    <a:lstStyle/>
                    <a:p>
                      <a:pPr algn="ctr">
                        <a:lnSpc>
                          <a:spcPts val="3359"/>
                        </a:lnSpc>
                        <a:defRPr/>
                      </a:pPr>
                      <a:r>
                        <a:rPr lang="en-US" sz="2399" b="1">
                          <a:solidFill>
                            <a:srgbClr val="000000">
                              <a:alpha val="84706"/>
                            </a:srgbClr>
                          </a:solidFill>
                          <a:latin typeface="Anantason Bold"/>
                          <a:ea typeface="Anantason Bold"/>
                          <a:cs typeface="Anantason Bold"/>
                          <a:sym typeface="Anantason Bold"/>
                        </a:rPr>
                        <a:t>10</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6CE0A9">
                        <a:alpha val="84706"/>
                      </a:srgbClr>
                    </a:solidFill>
                  </a:tcPr>
                </a:tc>
                <a:tc>
                  <a:txBody>
                    <a:bodyPr/>
                    <a:lstStyle/>
                    <a:p>
                      <a:pPr algn="l">
                        <a:lnSpc>
                          <a:spcPts val="3919"/>
                        </a:lnSpc>
                        <a:defRPr/>
                      </a:pPr>
                      <a:r>
                        <a:rPr lang="en-US" sz="2799" u="sng">
                          <a:solidFill>
                            <a:srgbClr val="000000">
                              <a:alpha val="84706"/>
                            </a:srgbClr>
                          </a:solidFill>
                          <a:latin typeface="Muli"/>
                          <a:ea typeface="Muli"/>
                          <a:cs typeface="Muli"/>
                          <a:sym typeface="Muli"/>
                        </a:rPr>
                        <a:t>Gaps in the current RL for Transportation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alpha val="84706"/>
                      </a:srgbClr>
                    </a:solidFill>
                  </a:tcPr>
                </a:tc>
                <a:extLst>
                  <a:ext uri="{0D108BD9-81ED-4DB2-BD59-A6C34878D82A}">
                    <a16:rowId xmlns:a16="http://schemas.microsoft.com/office/drawing/2014/main" val="10007"/>
                  </a:ext>
                </a:extLst>
              </a:tr>
              <a:tr h="1181989">
                <a:tc>
                  <a:txBody>
                    <a:bodyPr/>
                    <a:lstStyle/>
                    <a:p>
                      <a:pPr algn="ctr">
                        <a:lnSpc>
                          <a:spcPts val="3359"/>
                        </a:lnSpc>
                        <a:defRPr/>
                      </a:pPr>
                      <a:r>
                        <a:rPr lang="en-US" sz="2399" b="1" dirty="0">
                          <a:solidFill>
                            <a:srgbClr val="000000">
                              <a:alpha val="84706"/>
                            </a:srgbClr>
                          </a:solidFill>
                          <a:latin typeface="Anantason Bold"/>
                          <a:ea typeface="Anantason Bold"/>
                          <a:cs typeface="Anantason Bold"/>
                          <a:sym typeface="Anantason Bold"/>
                        </a:rPr>
                        <a:t>15</a:t>
                      </a:r>
                      <a:endParaRPr lang="en-US" sz="1100" dirty="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6CE0A9">
                        <a:alpha val="84706"/>
                      </a:srgbClr>
                    </a:solidFill>
                  </a:tcPr>
                </a:tc>
                <a:tc>
                  <a:txBody>
                    <a:bodyPr/>
                    <a:lstStyle/>
                    <a:p>
                      <a:pPr algn="l">
                        <a:lnSpc>
                          <a:spcPts val="3919"/>
                        </a:lnSpc>
                        <a:defRPr/>
                      </a:pPr>
                      <a:r>
                        <a:rPr lang="en-US" sz="2799" u="sng" dirty="0">
                          <a:solidFill>
                            <a:srgbClr val="000000">
                              <a:alpha val="84706"/>
                            </a:srgbClr>
                          </a:solidFill>
                          <a:latin typeface="Muli"/>
                          <a:ea typeface="Muli"/>
                          <a:cs typeface="Muli"/>
                          <a:sym typeface="Muli"/>
                        </a:rPr>
                        <a:t>Research Development Roadmap</a:t>
                      </a:r>
                      <a:endParaRPr lang="en-US" sz="1100" dirty="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alpha val="84706"/>
                      </a:srgbClr>
                    </a:solidFill>
                  </a:tcPr>
                </a:tc>
                <a:extLst>
                  <a:ext uri="{0D108BD9-81ED-4DB2-BD59-A6C34878D82A}">
                    <a16:rowId xmlns:a16="http://schemas.microsoft.com/office/drawing/2014/main" val="10008"/>
                  </a:ext>
                </a:extLst>
              </a:tr>
            </a:tbl>
          </a:graphicData>
        </a:graphic>
      </p:graphicFrame>
      <p:sp>
        <p:nvSpPr>
          <p:cNvPr id="4" name="TextBox 4"/>
          <p:cNvSpPr txBox="1"/>
          <p:nvPr/>
        </p:nvSpPr>
        <p:spPr>
          <a:xfrm>
            <a:off x="1028700" y="4477693"/>
            <a:ext cx="5637153" cy="1276350"/>
          </a:xfrm>
          <a:prstGeom prst="rect">
            <a:avLst/>
          </a:prstGeom>
        </p:spPr>
        <p:txBody>
          <a:bodyPr lIns="0" tIns="0" rIns="0" bIns="0" rtlCol="0" anchor="t">
            <a:spAutoFit/>
          </a:bodyPr>
          <a:lstStyle/>
          <a:p>
            <a:pPr algn="l">
              <a:lnSpc>
                <a:spcPts val="10199"/>
              </a:lnSpc>
            </a:pPr>
            <a:r>
              <a:rPr lang="en-US" sz="8499">
                <a:solidFill>
                  <a:srgbClr val="000000"/>
                </a:solidFill>
                <a:latin typeface="Anantason"/>
                <a:ea typeface="Anantason"/>
                <a:cs typeface="Anantason"/>
                <a:sym typeface="Anantason"/>
              </a:rPr>
              <a:t>Agenda</a:t>
            </a:r>
          </a:p>
        </p:txBody>
      </p:sp>
      <p:sp>
        <p:nvSpPr>
          <p:cNvPr id="5" name="TextBox 5"/>
          <p:cNvSpPr txBox="1"/>
          <p:nvPr/>
        </p:nvSpPr>
        <p:spPr>
          <a:xfrm>
            <a:off x="1256614" y="1517210"/>
            <a:ext cx="4680347" cy="405765"/>
          </a:xfrm>
          <a:prstGeom prst="rect">
            <a:avLst/>
          </a:prstGeom>
        </p:spPr>
        <p:txBody>
          <a:bodyPr lIns="0" tIns="0" rIns="0" bIns="0" rtlCol="0" anchor="t">
            <a:spAutoFit/>
          </a:bodyPr>
          <a:lstStyle/>
          <a:p>
            <a:pPr algn="ctr">
              <a:lnSpc>
                <a:spcPts val="3359"/>
              </a:lnSpc>
              <a:spcBef>
                <a:spcPct val="0"/>
              </a:spcBef>
            </a:pPr>
            <a:r>
              <a:rPr lang="en-US" sz="2400">
                <a:solidFill>
                  <a:srgbClr val="FFFFFF"/>
                </a:solidFill>
                <a:latin typeface="Muli"/>
                <a:ea typeface="Muli"/>
                <a:cs typeface="Muli"/>
                <a:sym typeface="Muli"/>
              </a:rPr>
              <a:t>Stupid Monkey if you game or flip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sp>
        <p:nvSpPr>
          <p:cNvPr id="3" name="Freeform 3"/>
          <p:cNvSpPr/>
          <p:nvPr/>
        </p:nvSpPr>
        <p:spPr>
          <a:xfrm>
            <a:off x="9144000" y="-4203782"/>
            <a:ext cx="7641094" cy="7870040"/>
          </a:xfrm>
          <a:custGeom>
            <a:avLst/>
            <a:gdLst/>
            <a:ahLst/>
            <a:cxnLst/>
            <a:rect l="l" t="t" r="r" b="b"/>
            <a:pathLst>
              <a:path w="7641094" h="7870040">
                <a:moveTo>
                  <a:pt x="0" y="0"/>
                </a:moveTo>
                <a:lnTo>
                  <a:pt x="7641094" y="0"/>
                </a:lnTo>
                <a:lnTo>
                  <a:pt x="7641094" y="7870040"/>
                </a:lnTo>
                <a:lnTo>
                  <a:pt x="0" y="78700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grpSp>
        <p:nvGrpSpPr>
          <p:cNvPr id="4" name="Group 4"/>
          <p:cNvGrpSpPr>
            <a:grpSpLocks noChangeAspect="1"/>
          </p:cNvGrpSpPr>
          <p:nvPr/>
        </p:nvGrpSpPr>
        <p:grpSpPr>
          <a:xfrm>
            <a:off x="522633" y="1814658"/>
            <a:ext cx="7163751" cy="7163751"/>
            <a:chOff x="0" y="0"/>
            <a:chExt cx="6350000" cy="6350000"/>
          </a:xfrm>
        </p:grpSpPr>
        <p:sp>
          <p:nvSpPr>
            <p:cNvPr id="5" name="Freeform 5"/>
            <p:cNvSpPr/>
            <p:nvPr/>
          </p:nvSpPr>
          <p:spPr>
            <a:xfrm>
              <a:off x="0" y="0"/>
              <a:ext cx="6350000" cy="6350000"/>
            </a:xfrm>
            <a:custGeom>
              <a:avLst/>
              <a:gdLst/>
              <a:ahLst/>
              <a:cxnLst/>
              <a:rect l="l" t="t" r="r" b="b"/>
              <a:pathLst>
                <a:path w="6350000" h="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5"/>
              <a:stretch>
                <a:fillRect l="-24931" r="-24931"/>
              </a:stretch>
            </a:blipFill>
          </p:spPr>
          <p:txBody>
            <a:bodyPr/>
            <a:lstStyle/>
            <a:p>
              <a:endParaRPr lang="en-CA"/>
            </a:p>
          </p:txBody>
        </p:sp>
        <p:sp>
          <p:nvSpPr>
            <p:cNvPr id="6" name="Freeform 6"/>
            <p:cNvSpPr/>
            <p:nvPr/>
          </p:nvSpPr>
          <p:spPr>
            <a:xfrm>
              <a:off x="0" y="0"/>
              <a:ext cx="6350000" cy="6350000"/>
            </a:xfrm>
            <a:custGeom>
              <a:avLst/>
              <a:gdLst/>
              <a:ahLst/>
              <a:cxnLst/>
              <a:rect l="l" t="t" r="r" b="b"/>
              <a:pathLst>
                <a:path w="6350000" h="6350000">
                  <a:moveTo>
                    <a:pt x="5715000" y="19050"/>
                  </a:moveTo>
                  <a:cubicBezTo>
                    <a:pt x="6054090" y="19050"/>
                    <a:pt x="6330950" y="295910"/>
                    <a:pt x="6330950" y="635000"/>
                  </a:cubicBezTo>
                  <a:lnTo>
                    <a:pt x="6330950" y="5715000"/>
                  </a:lnTo>
                  <a:cubicBezTo>
                    <a:pt x="6330950" y="6054090"/>
                    <a:pt x="6054090" y="6330950"/>
                    <a:pt x="5715000" y="6330950"/>
                  </a:cubicBezTo>
                  <a:lnTo>
                    <a:pt x="635000" y="6330950"/>
                  </a:lnTo>
                  <a:cubicBezTo>
                    <a:pt x="295910" y="6330950"/>
                    <a:pt x="19050" y="6054090"/>
                    <a:pt x="19050" y="5715000"/>
                  </a:cubicBezTo>
                  <a:lnTo>
                    <a:pt x="19050" y="635000"/>
                  </a:lnTo>
                  <a:cubicBezTo>
                    <a:pt x="19050" y="295910"/>
                    <a:pt x="295910" y="19050"/>
                    <a:pt x="635000" y="19050"/>
                  </a:cubicBezTo>
                  <a:lnTo>
                    <a:pt x="5715000" y="19050"/>
                  </a:lnTo>
                  <a:moveTo>
                    <a:pt x="5715000" y="0"/>
                  </a:moveTo>
                  <a:lnTo>
                    <a:pt x="635000" y="0"/>
                  </a:lnTo>
                  <a:cubicBezTo>
                    <a:pt x="284480" y="0"/>
                    <a:pt x="0" y="284480"/>
                    <a:pt x="0" y="635000"/>
                  </a:cubicBezTo>
                  <a:lnTo>
                    <a:pt x="0" y="5715000"/>
                  </a:lnTo>
                  <a:cubicBezTo>
                    <a:pt x="0" y="6065520"/>
                    <a:pt x="284480" y="6350000"/>
                    <a:pt x="635000" y="6350000"/>
                  </a:cubicBezTo>
                  <a:lnTo>
                    <a:pt x="5715000" y="6350000"/>
                  </a:lnTo>
                  <a:cubicBezTo>
                    <a:pt x="6065520" y="6350000"/>
                    <a:pt x="6350000" y="6065520"/>
                    <a:pt x="6350000" y="5715000"/>
                  </a:cubicBezTo>
                  <a:lnTo>
                    <a:pt x="6350000" y="635000"/>
                  </a:lnTo>
                  <a:cubicBezTo>
                    <a:pt x="6350000" y="284480"/>
                    <a:pt x="6065520" y="0"/>
                    <a:pt x="5715000" y="0"/>
                  </a:cubicBezTo>
                  <a:lnTo>
                    <a:pt x="5715000" y="0"/>
                  </a:lnTo>
                  <a:close/>
                </a:path>
              </a:pathLst>
            </a:custGeom>
            <a:solidFill>
              <a:srgbClr val="FFFFFF"/>
            </a:solidFill>
          </p:spPr>
          <p:txBody>
            <a:bodyPr/>
            <a:lstStyle/>
            <a:p>
              <a:endParaRPr lang="en-CA"/>
            </a:p>
          </p:txBody>
        </p:sp>
      </p:grpSp>
      <p:grpSp>
        <p:nvGrpSpPr>
          <p:cNvPr id="7" name="Group 7"/>
          <p:cNvGrpSpPr/>
          <p:nvPr/>
        </p:nvGrpSpPr>
        <p:grpSpPr>
          <a:xfrm>
            <a:off x="9144000" y="0"/>
            <a:ext cx="8628918" cy="9980295"/>
            <a:chOff x="0" y="0"/>
            <a:chExt cx="11505224" cy="13307060"/>
          </a:xfrm>
        </p:grpSpPr>
        <p:sp>
          <p:nvSpPr>
            <p:cNvPr id="8" name="TextBox 8"/>
            <p:cNvSpPr txBox="1"/>
            <p:nvPr/>
          </p:nvSpPr>
          <p:spPr>
            <a:xfrm>
              <a:off x="0" y="9525"/>
              <a:ext cx="11505224" cy="1704975"/>
            </a:xfrm>
            <a:prstGeom prst="rect">
              <a:avLst/>
            </a:prstGeom>
          </p:spPr>
          <p:txBody>
            <a:bodyPr lIns="0" tIns="0" rIns="0" bIns="0" rtlCol="0" anchor="t">
              <a:spAutoFit/>
            </a:bodyPr>
            <a:lstStyle/>
            <a:p>
              <a:pPr algn="l">
                <a:lnSpc>
                  <a:spcPts val="10199"/>
                </a:lnSpc>
              </a:pPr>
              <a:r>
                <a:rPr lang="en-US" sz="8499">
                  <a:solidFill>
                    <a:srgbClr val="000000"/>
                  </a:solidFill>
                  <a:latin typeface="Anantason"/>
                  <a:ea typeface="Anantason"/>
                  <a:cs typeface="Anantason"/>
                  <a:sym typeface="Anantason"/>
                </a:rPr>
                <a:t>Background</a:t>
              </a:r>
            </a:p>
          </p:txBody>
        </p:sp>
        <p:sp>
          <p:nvSpPr>
            <p:cNvPr id="9" name="TextBox 9"/>
            <p:cNvSpPr txBox="1"/>
            <p:nvPr/>
          </p:nvSpPr>
          <p:spPr>
            <a:xfrm>
              <a:off x="0" y="2384425"/>
              <a:ext cx="10541972" cy="10922635"/>
            </a:xfrm>
            <a:prstGeom prst="rect">
              <a:avLst/>
            </a:prstGeom>
          </p:spPr>
          <p:txBody>
            <a:bodyPr lIns="0" tIns="0" rIns="0" bIns="0" rtlCol="0" anchor="t">
              <a:spAutoFit/>
            </a:bodyPr>
            <a:lstStyle/>
            <a:p>
              <a:pPr algn="l">
                <a:lnSpc>
                  <a:spcPts val="3120"/>
                </a:lnSpc>
              </a:pPr>
              <a:r>
                <a:rPr lang="en-US" sz="2400" dirty="0">
                  <a:solidFill>
                    <a:srgbClr val="000000"/>
                  </a:solidFill>
                  <a:latin typeface="Muli"/>
                  <a:ea typeface="Muli"/>
                  <a:cs typeface="Muli"/>
                  <a:sym typeface="Muli"/>
                </a:rPr>
                <a:t>Transportation agents represent the next significant phase of Physical Artificial Intelligence (PAI). They pose one of the hardest problems to solve due to their direct involvement with human lives and the real world. My research, development and agent training will focus on transportation industry, specifically on landing and driving application of Artificial Intelligence utilizing Proximal Policy Control (PPO)</a:t>
              </a:r>
            </a:p>
            <a:p>
              <a:pPr algn="l">
                <a:lnSpc>
                  <a:spcPts val="3120"/>
                </a:lnSpc>
              </a:pPr>
              <a:endParaRPr lang="en-US" sz="2400" dirty="0">
                <a:solidFill>
                  <a:srgbClr val="000000"/>
                </a:solidFill>
                <a:latin typeface="Muli"/>
                <a:ea typeface="Muli"/>
                <a:cs typeface="Muli"/>
                <a:sym typeface="Muli"/>
              </a:endParaRPr>
            </a:p>
            <a:p>
              <a:pPr algn="l">
                <a:lnSpc>
                  <a:spcPts val="3120"/>
                </a:lnSpc>
              </a:pPr>
              <a:r>
                <a:rPr lang="en-US" sz="2400" dirty="0">
                  <a:solidFill>
                    <a:srgbClr val="000000"/>
                  </a:solidFill>
                  <a:latin typeface="Muli"/>
                  <a:ea typeface="Muli"/>
                  <a:cs typeface="Muli"/>
                  <a:sym typeface="Muli"/>
                </a:rPr>
                <a:t>PPO is a state-of-the-art algorithm in Reinforcement learning (RL). It is widely used in multiple industries including finance, chemistry, biomedical, traffic control, network engineering and cybersecurity. Importantly, PPO is also the core RL algorithm that currently enables frontier Large Language Models (LLMs) like OpenAI ChatGPT, Anthropic Claude and Google Gemini through techniques like Reinforcement Learning from Human Feedback (RLHF)</a:t>
              </a:r>
            </a:p>
            <a:p>
              <a:pPr algn="l">
                <a:lnSpc>
                  <a:spcPts val="3120"/>
                </a:lnSpc>
              </a:pPr>
              <a:endParaRPr lang="en-US" sz="2400" dirty="0">
                <a:solidFill>
                  <a:srgbClr val="000000"/>
                </a:solidFill>
                <a:latin typeface="Muli"/>
                <a:ea typeface="Muli"/>
                <a:cs typeface="Muli"/>
                <a:sym typeface="Muli"/>
              </a:endParaRPr>
            </a:p>
            <a:p>
              <a:pPr algn="l">
                <a:lnSpc>
                  <a:spcPts val="3120"/>
                </a:lnSpc>
              </a:pPr>
              <a:endParaRPr lang="en-US" sz="2400" dirty="0">
                <a:solidFill>
                  <a:srgbClr val="000000"/>
                </a:solidFill>
                <a:latin typeface="Muli"/>
                <a:ea typeface="Muli"/>
                <a:cs typeface="Muli"/>
                <a:sym typeface="Muli"/>
              </a:endParaRPr>
            </a:p>
            <a:p>
              <a:pPr algn="l">
                <a:lnSpc>
                  <a:spcPts val="3120"/>
                </a:lnSpc>
              </a:pPr>
              <a:endParaRPr lang="en-US" sz="2400" dirty="0">
                <a:solidFill>
                  <a:srgbClr val="000000"/>
                </a:solidFill>
                <a:latin typeface="Muli"/>
                <a:ea typeface="Muli"/>
                <a:cs typeface="Muli"/>
                <a:sym typeface="Muli"/>
              </a:endParaRPr>
            </a:p>
          </p:txBody>
        </p:sp>
      </p:grpSp>
      <p:sp>
        <p:nvSpPr>
          <p:cNvPr id="10" name="TextBox 10"/>
          <p:cNvSpPr txBox="1"/>
          <p:nvPr/>
        </p:nvSpPr>
        <p:spPr>
          <a:xfrm>
            <a:off x="0" y="9105900"/>
            <a:ext cx="8106610" cy="161925"/>
          </a:xfrm>
          <a:prstGeom prst="rect">
            <a:avLst/>
          </a:prstGeom>
        </p:spPr>
        <p:txBody>
          <a:bodyPr lIns="0" tIns="0" rIns="0" bIns="0" rtlCol="0" anchor="t">
            <a:spAutoFit/>
          </a:bodyPr>
          <a:lstStyle/>
          <a:p>
            <a:pPr algn="ctr">
              <a:lnSpc>
                <a:spcPts val="1320"/>
              </a:lnSpc>
              <a:spcBef>
                <a:spcPct val="0"/>
              </a:spcBef>
            </a:pPr>
            <a:r>
              <a:rPr lang="en-US" sz="1100">
                <a:solidFill>
                  <a:srgbClr val="000000"/>
                </a:solidFill>
                <a:latin typeface="Anantason"/>
                <a:ea typeface="Anantason"/>
                <a:cs typeface="Anantason"/>
                <a:sym typeface="Anantason"/>
              </a:rPr>
              <a:t>Image Source: https://www.smartcitiesworld.net/opinions/driving-autonomous-vehicles-forward-with-intelligent-infrastructure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476700" y="-1636318"/>
            <a:ext cx="8680381" cy="11710992"/>
          </a:xfrm>
          <a:custGeom>
            <a:avLst/>
            <a:gdLst/>
            <a:ahLst/>
            <a:cxnLst/>
            <a:rect l="l" t="t" r="r" b="b"/>
            <a:pathLst>
              <a:path w="8680381" h="11710992">
                <a:moveTo>
                  <a:pt x="0" y="0"/>
                </a:moveTo>
                <a:lnTo>
                  <a:pt x="8680381" y="0"/>
                </a:lnTo>
                <a:lnTo>
                  <a:pt x="8680381" y="11710992"/>
                </a:lnTo>
                <a:lnTo>
                  <a:pt x="0" y="11710992"/>
                </a:lnTo>
                <a:lnTo>
                  <a:pt x="0" y="0"/>
                </a:lnTo>
                <a:close/>
              </a:path>
            </a:pathLst>
          </a:custGeom>
          <a:blipFill>
            <a:blip r:embed="rId4">
              <a:extLst>
                <a:ext uri="{96DAC541-7B7A-43D3-8B79-37D633B846F1}">
                  <asvg:svgBlip xmlns:asvg="http://schemas.microsoft.com/office/drawing/2016/SVG/main" r:embed="rId5"/>
                </a:ext>
              </a:extLst>
            </a:blip>
            <a:stretch>
              <a:fillRect l="-34255" t="-2494"/>
            </a:stretch>
          </a:blipFill>
        </p:spPr>
        <p:txBody>
          <a:bodyPr/>
          <a:lstStyle/>
          <a:p>
            <a:endParaRPr lang="en-CA"/>
          </a:p>
        </p:txBody>
      </p:sp>
      <p:grpSp>
        <p:nvGrpSpPr>
          <p:cNvPr id="3" name="Group 3"/>
          <p:cNvGrpSpPr/>
          <p:nvPr/>
        </p:nvGrpSpPr>
        <p:grpSpPr>
          <a:xfrm>
            <a:off x="11476700" y="3953831"/>
            <a:ext cx="6811300" cy="6333169"/>
            <a:chOff x="0" y="0"/>
            <a:chExt cx="9081734" cy="8444226"/>
          </a:xfrm>
        </p:grpSpPr>
        <p:pic>
          <p:nvPicPr>
            <p:cNvPr id="4" name="Picture 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l="19751" r="19751"/>
            <a:stretch>
              <a:fillRect/>
            </a:stretch>
          </p:blipFill>
          <p:spPr>
            <a:xfrm>
              <a:off x="0" y="0"/>
              <a:ext cx="9081734" cy="8444226"/>
            </a:xfrm>
            <a:prstGeom prst="rect">
              <a:avLst/>
            </a:prstGeom>
          </p:spPr>
        </p:pic>
      </p:grpSp>
      <p:sp>
        <p:nvSpPr>
          <p:cNvPr id="5" name="Freeform 5"/>
          <p:cNvSpPr/>
          <p:nvPr/>
        </p:nvSpPr>
        <p:spPr>
          <a:xfrm>
            <a:off x="1028700" y="2853227"/>
            <a:ext cx="613365" cy="613365"/>
          </a:xfrm>
          <a:custGeom>
            <a:avLst/>
            <a:gdLst/>
            <a:ahLst/>
            <a:cxnLst/>
            <a:rect l="l" t="t" r="r" b="b"/>
            <a:pathLst>
              <a:path w="613365" h="613365">
                <a:moveTo>
                  <a:pt x="0" y="0"/>
                </a:moveTo>
                <a:lnTo>
                  <a:pt x="613365" y="0"/>
                </a:lnTo>
                <a:lnTo>
                  <a:pt x="613365" y="613365"/>
                </a:lnTo>
                <a:lnTo>
                  <a:pt x="0" y="6133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CA"/>
          </a:p>
        </p:txBody>
      </p:sp>
      <p:sp>
        <p:nvSpPr>
          <p:cNvPr id="6" name="TextBox 6"/>
          <p:cNvSpPr txBox="1"/>
          <p:nvPr/>
        </p:nvSpPr>
        <p:spPr>
          <a:xfrm>
            <a:off x="1264445" y="652232"/>
            <a:ext cx="9467779" cy="1276350"/>
          </a:xfrm>
          <a:prstGeom prst="rect">
            <a:avLst/>
          </a:prstGeom>
        </p:spPr>
        <p:txBody>
          <a:bodyPr lIns="0" tIns="0" rIns="0" bIns="0" rtlCol="0" anchor="t">
            <a:spAutoFit/>
          </a:bodyPr>
          <a:lstStyle/>
          <a:p>
            <a:pPr algn="l">
              <a:lnSpc>
                <a:spcPts val="10199"/>
              </a:lnSpc>
            </a:pPr>
            <a:r>
              <a:rPr lang="en-US" sz="8499">
                <a:solidFill>
                  <a:srgbClr val="000000"/>
                </a:solidFill>
                <a:latin typeface="Anantason"/>
                <a:ea typeface="Anantason"/>
                <a:cs typeface="Anantason"/>
                <a:sym typeface="Anantason"/>
              </a:rPr>
              <a:t>Problem Statement</a:t>
            </a:r>
          </a:p>
        </p:txBody>
      </p:sp>
      <p:grpSp>
        <p:nvGrpSpPr>
          <p:cNvPr id="7" name="Group 7"/>
          <p:cNvGrpSpPr/>
          <p:nvPr/>
        </p:nvGrpSpPr>
        <p:grpSpPr>
          <a:xfrm>
            <a:off x="1916690" y="2782115"/>
            <a:ext cx="9014211" cy="5637985"/>
            <a:chOff x="0" y="0"/>
            <a:chExt cx="12018948" cy="7517313"/>
          </a:xfrm>
        </p:grpSpPr>
        <p:sp>
          <p:nvSpPr>
            <p:cNvPr id="8" name="TextBox 8"/>
            <p:cNvSpPr txBox="1"/>
            <p:nvPr/>
          </p:nvSpPr>
          <p:spPr>
            <a:xfrm>
              <a:off x="0" y="9525"/>
              <a:ext cx="12018948" cy="688975"/>
            </a:xfrm>
            <a:prstGeom prst="rect">
              <a:avLst/>
            </a:prstGeom>
          </p:spPr>
          <p:txBody>
            <a:bodyPr lIns="0" tIns="0" rIns="0" bIns="0" rtlCol="0" anchor="t">
              <a:spAutoFit/>
            </a:bodyPr>
            <a:lstStyle/>
            <a:p>
              <a:pPr marL="0" lvl="0" indent="0" algn="l">
                <a:lnSpc>
                  <a:spcPts val="4199"/>
                </a:lnSpc>
                <a:spcBef>
                  <a:spcPct val="0"/>
                </a:spcBef>
              </a:pPr>
              <a:r>
                <a:rPr lang="en-US" sz="3499" u="none">
                  <a:solidFill>
                    <a:srgbClr val="000000"/>
                  </a:solidFill>
                  <a:latin typeface="Anantason"/>
                  <a:ea typeface="Anantason"/>
                  <a:cs typeface="Anantason"/>
                  <a:sym typeface="Anantason"/>
                </a:rPr>
                <a:t>Scope of the Solution</a:t>
              </a:r>
            </a:p>
          </p:txBody>
        </p:sp>
        <p:sp>
          <p:nvSpPr>
            <p:cNvPr id="9" name="TextBox 9"/>
            <p:cNvSpPr txBox="1"/>
            <p:nvPr/>
          </p:nvSpPr>
          <p:spPr>
            <a:xfrm>
              <a:off x="0" y="845368"/>
              <a:ext cx="12018948" cy="6671945"/>
            </a:xfrm>
            <a:prstGeom prst="rect">
              <a:avLst/>
            </a:prstGeom>
          </p:spPr>
          <p:txBody>
            <a:bodyPr lIns="0" tIns="0" rIns="0" bIns="0" rtlCol="0" anchor="t">
              <a:spAutoFit/>
            </a:bodyPr>
            <a:lstStyle/>
            <a:p>
              <a:pPr algn="just">
                <a:lnSpc>
                  <a:spcPts val="3359"/>
                </a:lnSpc>
              </a:pPr>
              <a:r>
                <a:rPr lang="en-US" sz="2400" dirty="0">
                  <a:solidFill>
                    <a:srgbClr val="000000"/>
                  </a:solidFill>
                  <a:latin typeface="Muli"/>
                  <a:ea typeface="Muli"/>
                  <a:cs typeface="Muli"/>
                  <a:sym typeface="Muli"/>
                </a:rPr>
                <a:t>The core problem addressed by this research is the practical training of robust transportation agents for safety-critical tasks.</a:t>
              </a:r>
            </a:p>
            <a:p>
              <a:pPr algn="just">
                <a:lnSpc>
                  <a:spcPts val="3359"/>
                </a:lnSpc>
              </a:pPr>
              <a:r>
                <a:rPr lang="en-US" sz="2399" dirty="0">
                  <a:solidFill>
                    <a:srgbClr val="000000"/>
                  </a:solidFill>
                  <a:latin typeface="Muli"/>
                  <a:ea typeface="Muli"/>
                  <a:cs typeface="Muli"/>
                  <a:sym typeface="Muli"/>
                </a:rPr>
                <a:t>In addition to developing a comprehensive theoretical understanding of Reinforcement Learning (RL), the primary objective is to train multiple transportation agents using Proximal Policy Optimization (PPO) across diverse simulated environments. These environments such as OpenAI Gymnasium and Carla, feature integrated physics and world conditions designed to replicate real-world challenges. The successful training requires the agents to demonstrate the necessary intelligence to land and drive safely and successfully.</a:t>
              </a:r>
            </a:p>
            <a:p>
              <a:pPr algn="just">
                <a:lnSpc>
                  <a:spcPts val="3359"/>
                </a:lnSpc>
              </a:pPr>
              <a:endParaRPr lang="en-US" sz="2399" dirty="0">
                <a:solidFill>
                  <a:srgbClr val="000000"/>
                </a:solidFill>
                <a:latin typeface="Muli"/>
                <a:ea typeface="Muli"/>
                <a:cs typeface="Muli"/>
                <a:sym typeface="Muli"/>
              </a:endParaRPr>
            </a:p>
          </p:txBody>
        </p:sp>
      </p:grpSp>
      <p:sp>
        <p:nvSpPr>
          <p:cNvPr id="10" name="TextBox 10"/>
          <p:cNvSpPr txBox="1"/>
          <p:nvPr/>
        </p:nvSpPr>
        <p:spPr>
          <a:xfrm>
            <a:off x="11710090" y="2021205"/>
            <a:ext cx="6344520" cy="1169670"/>
          </a:xfrm>
          <a:prstGeom prst="rect">
            <a:avLst/>
          </a:prstGeom>
        </p:spPr>
        <p:txBody>
          <a:bodyPr lIns="0" tIns="0" rIns="0" bIns="0" rtlCol="0" anchor="t">
            <a:spAutoFit/>
          </a:bodyPr>
          <a:lstStyle/>
          <a:p>
            <a:pPr algn="l">
              <a:lnSpc>
                <a:spcPts val="3120"/>
              </a:lnSpc>
            </a:pPr>
            <a:r>
              <a:rPr lang="en-US" sz="2400" b="1">
                <a:solidFill>
                  <a:srgbClr val="000000"/>
                </a:solidFill>
                <a:latin typeface="Muli Bold"/>
                <a:ea typeface="Muli Bold"/>
                <a:cs typeface="Muli Bold"/>
                <a:sym typeface="Muli Bold"/>
              </a:rPr>
              <a:t>Trained CarRacing-v3 agent with Proximal Policy Optimization (PPO) algorithm in OpenAI Gymnasium</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sp>
        <p:nvSpPr>
          <p:cNvPr id="3" name="Freeform 3"/>
          <p:cNvSpPr/>
          <p:nvPr/>
        </p:nvSpPr>
        <p:spPr>
          <a:xfrm>
            <a:off x="691013" y="1388260"/>
            <a:ext cx="7641094" cy="7870040"/>
          </a:xfrm>
          <a:custGeom>
            <a:avLst/>
            <a:gdLst/>
            <a:ahLst/>
            <a:cxnLst/>
            <a:rect l="l" t="t" r="r" b="b"/>
            <a:pathLst>
              <a:path w="7641094" h="7870040">
                <a:moveTo>
                  <a:pt x="0" y="0"/>
                </a:moveTo>
                <a:lnTo>
                  <a:pt x="7641094" y="0"/>
                </a:lnTo>
                <a:lnTo>
                  <a:pt x="7641094" y="7870040"/>
                </a:lnTo>
                <a:lnTo>
                  <a:pt x="0" y="78700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Freeform 4"/>
          <p:cNvSpPr/>
          <p:nvPr/>
        </p:nvSpPr>
        <p:spPr>
          <a:xfrm>
            <a:off x="5034008" y="5960200"/>
            <a:ext cx="3298100" cy="3298100"/>
          </a:xfrm>
          <a:custGeom>
            <a:avLst/>
            <a:gdLst/>
            <a:ahLst/>
            <a:cxnLst/>
            <a:rect l="l" t="t" r="r" b="b"/>
            <a:pathLst>
              <a:path w="3298100" h="3298100">
                <a:moveTo>
                  <a:pt x="0" y="0"/>
                </a:moveTo>
                <a:lnTo>
                  <a:pt x="3298099" y="0"/>
                </a:lnTo>
                <a:lnTo>
                  <a:pt x="3298099" y="3298100"/>
                </a:lnTo>
                <a:lnTo>
                  <a:pt x="0" y="32981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CA"/>
          </a:p>
        </p:txBody>
      </p:sp>
      <p:sp>
        <p:nvSpPr>
          <p:cNvPr id="5" name="Freeform 5"/>
          <p:cNvSpPr/>
          <p:nvPr/>
        </p:nvSpPr>
        <p:spPr>
          <a:xfrm>
            <a:off x="851577" y="4582257"/>
            <a:ext cx="9853091" cy="4676043"/>
          </a:xfrm>
          <a:custGeom>
            <a:avLst/>
            <a:gdLst/>
            <a:ahLst/>
            <a:cxnLst/>
            <a:rect l="l" t="t" r="r" b="b"/>
            <a:pathLst>
              <a:path w="9853091" h="4676043">
                <a:moveTo>
                  <a:pt x="0" y="0"/>
                </a:moveTo>
                <a:lnTo>
                  <a:pt x="9853090" y="0"/>
                </a:lnTo>
                <a:lnTo>
                  <a:pt x="9853090" y="4676043"/>
                </a:lnTo>
                <a:lnTo>
                  <a:pt x="0" y="4676043"/>
                </a:lnTo>
                <a:lnTo>
                  <a:pt x="0" y="0"/>
                </a:lnTo>
                <a:close/>
              </a:path>
            </a:pathLst>
          </a:custGeom>
          <a:blipFill>
            <a:blip r:embed="rId7"/>
            <a:stretch>
              <a:fillRect/>
            </a:stretch>
          </a:blipFill>
        </p:spPr>
        <p:txBody>
          <a:bodyPr/>
          <a:lstStyle/>
          <a:p>
            <a:endParaRPr lang="en-CA"/>
          </a:p>
        </p:txBody>
      </p:sp>
      <p:grpSp>
        <p:nvGrpSpPr>
          <p:cNvPr id="6" name="Group 6"/>
          <p:cNvGrpSpPr/>
          <p:nvPr/>
        </p:nvGrpSpPr>
        <p:grpSpPr>
          <a:xfrm>
            <a:off x="2094190" y="272085"/>
            <a:ext cx="14423386" cy="4122420"/>
            <a:chOff x="0" y="0"/>
            <a:chExt cx="19231181" cy="5496560"/>
          </a:xfrm>
        </p:grpSpPr>
        <p:sp>
          <p:nvSpPr>
            <p:cNvPr id="7" name="TextBox 7"/>
            <p:cNvSpPr txBox="1"/>
            <p:nvPr/>
          </p:nvSpPr>
          <p:spPr>
            <a:xfrm>
              <a:off x="0" y="9525"/>
              <a:ext cx="19231181" cy="1704975"/>
            </a:xfrm>
            <a:prstGeom prst="rect">
              <a:avLst/>
            </a:prstGeom>
          </p:spPr>
          <p:txBody>
            <a:bodyPr lIns="0" tIns="0" rIns="0" bIns="0" rtlCol="0" anchor="t">
              <a:spAutoFit/>
            </a:bodyPr>
            <a:lstStyle/>
            <a:p>
              <a:pPr algn="l">
                <a:lnSpc>
                  <a:spcPts val="10199"/>
                </a:lnSpc>
              </a:pPr>
              <a:r>
                <a:rPr lang="en-US" sz="8499">
                  <a:solidFill>
                    <a:srgbClr val="000000"/>
                  </a:solidFill>
                  <a:latin typeface="Anantason"/>
                  <a:ea typeface="Anantason"/>
                  <a:cs typeface="Anantason"/>
                  <a:sym typeface="Anantason"/>
                </a:rPr>
                <a:t>               Introduction</a:t>
              </a:r>
            </a:p>
          </p:txBody>
        </p:sp>
        <p:sp>
          <p:nvSpPr>
            <p:cNvPr id="8" name="TextBox 8"/>
            <p:cNvSpPr txBox="1"/>
            <p:nvPr/>
          </p:nvSpPr>
          <p:spPr>
            <a:xfrm>
              <a:off x="0" y="2384425"/>
              <a:ext cx="18354204" cy="3112135"/>
            </a:xfrm>
            <a:prstGeom prst="rect">
              <a:avLst/>
            </a:prstGeom>
          </p:spPr>
          <p:txBody>
            <a:bodyPr lIns="0" tIns="0" rIns="0" bIns="0" rtlCol="0" anchor="t">
              <a:spAutoFit/>
            </a:bodyPr>
            <a:lstStyle/>
            <a:p>
              <a:pPr algn="l">
                <a:lnSpc>
                  <a:spcPts val="3120"/>
                </a:lnSpc>
              </a:pPr>
              <a:r>
                <a:rPr lang="en-US" sz="2400">
                  <a:solidFill>
                    <a:srgbClr val="000000"/>
                  </a:solidFill>
                  <a:latin typeface="Muli"/>
                  <a:ea typeface="Muli"/>
                  <a:cs typeface="Muli"/>
                  <a:sym typeface="Muli"/>
                </a:rPr>
                <a:t>Learning through interaction with the environment is the fundamental concept when considering the nature of intelligence. Reinforcement Learning theoretical foundation uses this concept in terms of the </a:t>
              </a:r>
              <a:r>
                <a:rPr lang="en-US" sz="2400" b="1">
                  <a:solidFill>
                    <a:srgbClr val="000000"/>
                  </a:solidFill>
                  <a:latin typeface="Muli Bold"/>
                  <a:ea typeface="Muli Bold"/>
                  <a:cs typeface="Muli Bold"/>
                  <a:sym typeface="Muli Bold"/>
                </a:rPr>
                <a:t>Reward Hypothesis</a:t>
              </a:r>
              <a:r>
                <a:rPr lang="en-US" sz="2400">
                  <a:solidFill>
                    <a:srgbClr val="000000"/>
                  </a:solidFill>
                  <a:latin typeface="Muli"/>
                  <a:ea typeface="Muli"/>
                  <a:cs typeface="Muli"/>
                  <a:sym typeface="Muli"/>
                </a:rPr>
                <a:t>, which posit that “any goal can be formalized as the outcome of maximizing the cumulative reward.” This optimization problem is solved through repeated interaction between an agent and its environment. </a:t>
              </a:r>
            </a:p>
            <a:p>
              <a:pPr algn="l">
                <a:lnSpc>
                  <a:spcPts val="3120"/>
                </a:lnSpc>
              </a:pPr>
              <a:endParaRPr lang="en-US" sz="2400">
                <a:solidFill>
                  <a:srgbClr val="000000"/>
                </a:solidFill>
                <a:latin typeface="Muli"/>
                <a:ea typeface="Muli"/>
                <a:cs typeface="Muli"/>
                <a:sym typeface="Muli"/>
              </a:endParaRPr>
            </a:p>
          </p:txBody>
        </p:sp>
      </p:grpSp>
      <p:sp>
        <p:nvSpPr>
          <p:cNvPr id="9" name="TextBox 9"/>
          <p:cNvSpPr txBox="1"/>
          <p:nvPr/>
        </p:nvSpPr>
        <p:spPr>
          <a:xfrm>
            <a:off x="10881791" y="4444787"/>
            <a:ext cx="7406209" cy="5366854"/>
          </a:xfrm>
          <a:prstGeom prst="rect">
            <a:avLst/>
          </a:prstGeom>
        </p:spPr>
        <p:txBody>
          <a:bodyPr lIns="0" tIns="0" rIns="0" bIns="0" rtlCol="0" anchor="t">
            <a:spAutoFit/>
          </a:bodyPr>
          <a:lstStyle/>
          <a:p>
            <a:pPr algn="l">
              <a:lnSpc>
                <a:spcPts val="2760"/>
              </a:lnSpc>
              <a:spcBef>
                <a:spcPct val="0"/>
              </a:spcBef>
            </a:pPr>
            <a:r>
              <a:rPr lang="en-US" sz="2300" dirty="0">
                <a:solidFill>
                  <a:srgbClr val="000000"/>
                </a:solidFill>
                <a:latin typeface="Muli"/>
                <a:ea typeface="Muli"/>
                <a:cs typeface="Muli"/>
                <a:sym typeface="Muli"/>
              </a:rPr>
              <a:t>This process adheres to the logic of a sequential decision-making process. At each discrete time step t, the interaction loop proceeds as follows:</a:t>
            </a:r>
          </a:p>
          <a:p>
            <a:pPr marL="496647" lvl="1" indent="-248323" algn="l">
              <a:lnSpc>
                <a:spcPts val="2760"/>
              </a:lnSpc>
              <a:buFont typeface="Arial"/>
              <a:buChar char="•"/>
            </a:pPr>
            <a:r>
              <a:rPr lang="en-US" sz="2300" b="1" dirty="0">
                <a:solidFill>
                  <a:srgbClr val="000000"/>
                </a:solidFill>
                <a:latin typeface="Muli"/>
                <a:ea typeface="Muli"/>
                <a:cs typeface="Muli"/>
                <a:sym typeface="Muli"/>
              </a:rPr>
              <a:t>The Agent:</a:t>
            </a:r>
          </a:p>
          <a:p>
            <a:pPr algn="l">
              <a:lnSpc>
                <a:spcPts val="2760"/>
              </a:lnSpc>
              <a:spcBef>
                <a:spcPct val="0"/>
              </a:spcBef>
            </a:pPr>
            <a:r>
              <a:rPr lang="en-US" sz="2300" dirty="0">
                <a:solidFill>
                  <a:srgbClr val="000000"/>
                </a:solidFill>
                <a:latin typeface="Muli"/>
                <a:ea typeface="Muli"/>
                <a:cs typeface="Muli"/>
                <a:sym typeface="Muli"/>
              </a:rPr>
              <a:t>·Receives an observation </a:t>
            </a:r>
            <a:r>
              <a:rPr lang="en-GB" sz="2300" dirty="0">
                <a:effectLst/>
                <a:latin typeface="Muli" panose="020B0604020202020204" charset="0"/>
                <a:ea typeface="Times New Roman" panose="02020603050405020304" pitchFamily="18" charset="0"/>
              </a:rPr>
              <a:t>O</a:t>
            </a:r>
            <a:r>
              <a:rPr lang="en-GB" sz="2300" baseline="-25000" dirty="0">
                <a:effectLst/>
                <a:latin typeface="Muli" panose="020B0604020202020204" charset="0"/>
                <a:ea typeface="Times New Roman" panose="02020603050405020304" pitchFamily="18" charset="0"/>
              </a:rPr>
              <a:t>t</a:t>
            </a:r>
            <a:r>
              <a:rPr lang="en-US" sz="2300" dirty="0">
                <a:solidFill>
                  <a:srgbClr val="000000"/>
                </a:solidFill>
                <a:latin typeface="Muli" panose="020B0604020202020204" charset="0"/>
                <a:ea typeface="Muli"/>
                <a:cs typeface="Muli"/>
                <a:sym typeface="Muli"/>
              </a:rPr>
              <a:t> </a:t>
            </a:r>
            <a:r>
              <a:rPr lang="en-US" sz="2300" dirty="0">
                <a:solidFill>
                  <a:srgbClr val="000000"/>
                </a:solidFill>
                <a:latin typeface="Muli"/>
                <a:ea typeface="Muli"/>
                <a:cs typeface="Muli"/>
                <a:sym typeface="Muli"/>
              </a:rPr>
              <a:t>(representing the current state </a:t>
            </a:r>
            <a:r>
              <a:rPr lang="en-GB" sz="2300" dirty="0">
                <a:effectLst/>
                <a:latin typeface="Muli" panose="020B0604020202020204" charset="0"/>
                <a:ea typeface="Times New Roman" panose="02020603050405020304" pitchFamily="18" charset="0"/>
              </a:rPr>
              <a:t>S</a:t>
            </a:r>
            <a:r>
              <a:rPr lang="en-GB" sz="2300" baseline="-25000" dirty="0">
                <a:effectLst/>
                <a:latin typeface="Muli" panose="020B0604020202020204" charset="0"/>
                <a:ea typeface="Times New Roman" panose="02020603050405020304" pitchFamily="18" charset="0"/>
              </a:rPr>
              <a:t>t</a:t>
            </a:r>
            <a:r>
              <a:rPr lang="en-US" sz="2300" dirty="0">
                <a:solidFill>
                  <a:srgbClr val="000000"/>
                </a:solidFill>
                <a:latin typeface="Muli"/>
                <a:ea typeface="Muli"/>
                <a:cs typeface="Muli"/>
                <a:sym typeface="Muli"/>
              </a:rPr>
              <a:t>) and a scaler reward </a:t>
            </a:r>
            <a:r>
              <a:rPr lang="en-GB" sz="2300" dirty="0">
                <a:effectLst/>
                <a:latin typeface="Muli" panose="020B0604020202020204" charset="0"/>
                <a:ea typeface="Times New Roman" panose="02020603050405020304" pitchFamily="18" charset="0"/>
              </a:rPr>
              <a:t>R</a:t>
            </a:r>
            <a:r>
              <a:rPr lang="en-GB" sz="2300" baseline="-25000" dirty="0">
                <a:effectLst/>
                <a:latin typeface="Muli" panose="020B0604020202020204" charset="0"/>
                <a:ea typeface="Times New Roman" panose="02020603050405020304" pitchFamily="18" charset="0"/>
              </a:rPr>
              <a:t>t</a:t>
            </a:r>
            <a:r>
              <a:rPr lang="en-US" sz="2300" dirty="0">
                <a:solidFill>
                  <a:srgbClr val="000000"/>
                </a:solidFill>
                <a:latin typeface="Muli"/>
                <a:ea typeface="Muli"/>
                <a:cs typeface="Muli"/>
                <a:sym typeface="Muli"/>
              </a:rPr>
              <a:t> from the environment.</a:t>
            </a:r>
          </a:p>
          <a:p>
            <a:pPr algn="l">
              <a:lnSpc>
                <a:spcPts val="2760"/>
              </a:lnSpc>
              <a:spcBef>
                <a:spcPct val="0"/>
              </a:spcBef>
            </a:pPr>
            <a:r>
              <a:rPr lang="en-US" sz="2300" dirty="0">
                <a:solidFill>
                  <a:srgbClr val="000000"/>
                </a:solidFill>
                <a:latin typeface="Muli"/>
                <a:ea typeface="Muli"/>
                <a:cs typeface="Muli"/>
                <a:sym typeface="Muli"/>
              </a:rPr>
              <a:t>·Based on its current policy, the agent selects and executes an action </a:t>
            </a:r>
            <a:r>
              <a:rPr lang="en-GB" sz="2300" dirty="0">
                <a:effectLst/>
                <a:latin typeface="Muli" panose="020B0604020202020204" charset="0"/>
                <a:ea typeface="Times New Roman" panose="02020603050405020304" pitchFamily="18" charset="0"/>
              </a:rPr>
              <a:t>A</a:t>
            </a:r>
            <a:r>
              <a:rPr lang="en-GB" sz="2300" baseline="-25000" dirty="0">
                <a:effectLst/>
                <a:latin typeface="Muli" panose="020B0604020202020204" charset="0"/>
                <a:ea typeface="Times New Roman" panose="02020603050405020304" pitchFamily="18" charset="0"/>
              </a:rPr>
              <a:t>t</a:t>
            </a:r>
            <a:r>
              <a:rPr lang="en-US" sz="2300" dirty="0">
                <a:solidFill>
                  <a:srgbClr val="000000"/>
                </a:solidFill>
                <a:latin typeface="Muli"/>
                <a:ea typeface="Muli"/>
                <a:cs typeface="Muli"/>
                <a:sym typeface="Muli"/>
              </a:rPr>
              <a:t>.</a:t>
            </a:r>
          </a:p>
          <a:p>
            <a:pPr algn="l">
              <a:lnSpc>
                <a:spcPts val="2760"/>
              </a:lnSpc>
              <a:spcBef>
                <a:spcPct val="0"/>
              </a:spcBef>
            </a:pPr>
            <a:endParaRPr lang="en-US" sz="2300" dirty="0">
              <a:solidFill>
                <a:srgbClr val="000000"/>
              </a:solidFill>
              <a:latin typeface="Muli"/>
              <a:ea typeface="Muli"/>
              <a:cs typeface="Muli"/>
              <a:sym typeface="Muli"/>
            </a:endParaRPr>
          </a:p>
          <a:p>
            <a:pPr marL="496647" lvl="1" indent="-248323" algn="l">
              <a:lnSpc>
                <a:spcPts val="2760"/>
              </a:lnSpc>
              <a:buFont typeface="Arial"/>
              <a:buChar char="•"/>
            </a:pPr>
            <a:r>
              <a:rPr lang="en-US" sz="2300" b="1" dirty="0">
                <a:solidFill>
                  <a:srgbClr val="000000"/>
                </a:solidFill>
                <a:latin typeface="Muli"/>
                <a:ea typeface="Muli"/>
                <a:cs typeface="Muli"/>
                <a:sym typeface="Muli"/>
              </a:rPr>
              <a:t>The Environment:</a:t>
            </a:r>
          </a:p>
          <a:p>
            <a:pPr algn="l">
              <a:lnSpc>
                <a:spcPts val="2760"/>
              </a:lnSpc>
              <a:spcBef>
                <a:spcPct val="0"/>
              </a:spcBef>
            </a:pPr>
            <a:r>
              <a:rPr lang="en-US" sz="2300" dirty="0">
                <a:solidFill>
                  <a:srgbClr val="000000"/>
                </a:solidFill>
                <a:latin typeface="Muli"/>
                <a:ea typeface="Muli"/>
                <a:cs typeface="Muli"/>
                <a:sym typeface="Muli"/>
              </a:rPr>
              <a:t>·Receives the agent’s action </a:t>
            </a:r>
            <a:r>
              <a:rPr lang="en-GB" sz="2300" dirty="0">
                <a:effectLst/>
                <a:latin typeface="Muli" panose="020B0604020202020204" charset="0"/>
                <a:ea typeface="Times New Roman" panose="02020603050405020304" pitchFamily="18" charset="0"/>
              </a:rPr>
              <a:t>A</a:t>
            </a:r>
            <a:r>
              <a:rPr lang="en-GB" sz="2300" baseline="-25000" dirty="0">
                <a:effectLst/>
                <a:latin typeface="Muli" panose="020B0604020202020204" charset="0"/>
                <a:ea typeface="Times New Roman" panose="02020603050405020304" pitchFamily="18" charset="0"/>
              </a:rPr>
              <a:t>t</a:t>
            </a:r>
            <a:r>
              <a:rPr lang="en-US" sz="2300" dirty="0">
                <a:solidFill>
                  <a:srgbClr val="000000"/>
                </a:solidFill>
                <a:latin typeface="Muli"/>
                <a:ea typeface="Muli"/>
                <a:cs typeface="Muli"/>
                <a:sym typeface="Muli"/>
              </a:rPr>
              <a:t>.</a:t>
            </a:r>
          </a:p>
          <a:p>
            <a:pPr algn="l">
              <a:lnSpc>
                <a:spcPts val="2760"/>
              </a:lnSpc>
              <a:spcBef>
                <a:spcPct val="0"/>
              </a:spcBef>
            </a:pPr>
            <a:r>
              <a:rPr lang="en-US" sz="2300" dirty="0">
                <a:solidFill>
                  <a:srgbClr val="000000"/>
                </a:solidFill>
                <a:latin typeface="Muli"/>
                <a:ea typeface="Muli"/>
                <a:cs typeface="Muli"/>
                <a:sym typeface="Muli"/>
              </a:rPr>
              <a:t>·Transitions to a new state, emitting a new observation </a:t>
            </a:r>
            <a:r>
              <a:rPr lang="en-GB" sz="2300" dirty="0">
                <a:effectLst/>
                <a:latin typeface="Muli" panose="020B0604020202020204" charset="0"/>
                <a:ea typeface="Times New Roman" panose="02020603050405020304" pitchFamily="18" charset="0"/>
              </a:rPr>
              <a:t>O</a:t>
            </a:r>
            <a:r>
              <a:rPr lang="en-GB" sz="2300" baseline="-25000" dirty="0">
                <a:effectLst/>
                <a:latin typeface="Muli" panose="020B0604020202020204" charset="0"/>
                <a:ea typeface="Times New Roman" panose="02020603050405020304" pitchFamily="18" charset="0"/>
              </a:rPr>
              <a:t>t+1 </a:t>
            </a:r>
            <a:r>
              <a:rPr lang="en-GB" sz="2300" dirty="0">
                <a:effectLst/>
                <a:latin typeface="Muli" panose="020B0604020202020204" charset="0"/>
                <a:ea typeface="Times New Roman" panose="02020603050405020304" pitchFamily="18" charset="0"/>
              </a:rPr>
              <a:t>(or S</a:t>
            </a:r>
            <a:r>
              <a:rPr lang="en-GB" sz="2300" baseline="-25000" dirty="0">
                <a:effectLst/>
                <a:latin typeface="Muli" panose="020B0604020202020204" charset="0"/>
                <a:ea typeface="Times New Roman" panose="02020603050405020304" pitchFamily="18" charset="0"/>
              </a:rPr>
              <a:t>t+1</a:t>
            </a:r>
            <a:r>
              <a:rPr lang="en-GB" sz="2300" dirty="0">
                <a:effectLst/>
                <a:latin typeface="Muli" panose="020B0604020202020204" charset="0"/>
                <a:ea typeface="Times New Roman" panose="02020603050405020304" pitchFamily="18" charset="0"/>
              </a:rPr>
              <a:t>)</a:t>
            </a:r>
            <a:endParaRPr lang="en-US" sz="2300" dirty="0">
              <a:solidFill>
                <a:srgbClr val="000000"/>
              </a:solidFill>
              <a:latin typeface="Muli" panose="020B0604020202020204" charset="0"/>
              <a:ea typeface="Muli"/>
              <a:cs typeface="Muli"/>
              <a:sym typeface="Muli"/>
            </a:endParaRPr>
          </a:p>
          <a:p>
            <a:pPr algn="l">
              <a:lnSpc>
                <a:spcPts val="2760"/>
              </a:lnSpc>
              <a:spcBef>
                <a:spcPct val="0"/>
              </a:spcBef>
            </a:pPr>
            <a:r>
              <a:rPr lang="en-US" sz="2300" dirty="0">
                <a:solidFill>
                  <a:srgbClr val="000000"/>
                </a:solidFill>
                <a:latin typeface="Muli"/>
                <a:ea typeface="Muli"/>
                <a:cs typeface="Muli"/>
                <a:sym typeface="Muli"/>
              </a:rPr>
              <a:t>·Provides a corresponding immediate reward </a:t>
            </a:r>
            <a:r>
              <a:rPr lang="en-GB" sz="2300" dirty="0">
                <a:effectLst/>
                <a:latin typeface="Muli" panose="020B0604020202020204" charset="0"/>
                <a:ea typeface="Times New Roman" panose="02020603050405020304" pitchFamily="18" charset="0"/>
              </a:rPr>
              <a:t>R</a:t>
            </a:r>
            <a:r>
              <a:rPr lang="en-GB" sz="2300" baseline="-25000" dirty="0">
                <a:effectLst/>
                <a:latin typeface="Muli" panose="020B0604020202020204" charset="0"/>
                <a:ea typeface="Times New Roman" panose="02020603050405020304" pitchFamily="18" charset="0"/>
              </a:rPr>
              <a:t>t+1</a:t>
            </a:r>
            <a:r>
              <a:rPr lang="en-US" sz="2300" dirty="0">
                <a:solidFill>
                  <a:srgbClr val="000000"/>
                </a:solidFill>
                <a:latin typeface="Muli" panose="020B0604020202020204" charset="0"/>
                <a:ea typeface="Muli"/>
                <a:cs typeface="Muli"/>
                <a:sym typeface="Muli"/>
              </a:rPr>
              <a:t>.</a:t>
            </a:r>
          </a:p>
          <a:p>
            <a:pPr algn="l">
              <a:lnSpc>
                <a:spcPts val="2760"/>
              </a:lnSpc>
              <a:spcBef>
                <a:spcPct val="0"/>
              </a:spcBef>
            </a:pPr>
            <a:endParaRPr lang="en-US" sz="2300" dirty="0">
              <a:solidFill>
                <a:srgbClr val="000000"/>
              </a:solidFill>
              <a:latin typeface="Muli"/>
              <a:ea typeface="Muli"/>
              <a:cs typeface="Muli"/>
              <a:sym typeface="Muli"/>
            </a:endParaRPr>
          </a:p>
        </p:txBody>
      </p:sp>
      <p:sp>
        <p:nvSpPr>
          <p:cNvPr id="10" name="TextBox 10"/>
          <p:cNvSpPr txBox="1"/>
          <p:nvPr/>
        </p:nvSpPr>
        <p:spPr>
          <a:xfrm>
            <a:off x="-750560" y="9426362"/>
            <a:ext cx="11075871" cy="161925"/>
          </a:xfrm>
          <a:prstGeom prst="rect">
            <a:avLst/>
          </a:prstGeom>
        </p:spPr>
        <p:txBody>
          <a:bodyPr lIns="0" tIns="0" rIns="0" bIns="0" rtlCol="0" anchor="t">
            <a:spAutoFit/>
          </a:bodyPr>
          <a:lstStyle/>
          <a:p>
            <a:pPr algn="ctr">
              <a:lnSpc>
                <a:spcPts val="1320"/>
              </a:lnSpc>
              <a:spcBef>
                <a:spcPct val="0"/>
              </a:spcBef>
            </a:pPr>
            <a:r>
              <a:rPr lang="en-US" sz="1100">
                <a:solidFill>
                  <a:srgbClr val="000000"/>
                </a:solidFill>
                <a:latin typeface="Anantason"/>
                <a:ea typeface="Anantason"/>
                <a:cs typeface="Anantason"/>
                <a:sym typeface="Anantason"/>
              </a:rPr>
              <a:t>Image Source: https://www.youtube.com/playlist?list=PLqYmG7hTraZDVH599EItlEWsUOsJbAodm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sp>
        <p:nvSpPr>
          <p:cNvPr id="3" name="Freeform 3"/>
          <p:cNvSpPr/>
          <p:nvPr/>
        </p:nvSpPr>
        <p:spPr>
          <a:xfrm>
            <a:off x="-1633425" y="-3418907"/>
            <a:ext cx="13287718" cy="13685852"/>
          </a:xfrm>
          <a:custGeom>
            <a:avLst/>
            <a:gdLst/>
            <a:ahLst/>
            <a:cxnLst/>
            <a:rect l="l" t="t" r="r" b="b"/>
            <a:pathLst>
              <a:path w="13287718" h="13685852">
                <a:moveTo>
                  <a:pt x="0" y="0"/>
                </a:moveTo>
                <a:lnTo>
                  <a:pt x="13287718" y="0"/>
                </a:lnTo>
                <a:lnTo>
                  <a:pt x="13287718" y="13685852"/>
                </a:lnTo>
                <a:lnTo>
                  <a:pt x="0" y="136858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graphicFrame>
        <p:nvGraphicFramePr>
          <p:cNvPr id="4" name="Table 4"/>
          <p:cNvGraphicFramePr>
            <a:graphicFrameLocks noGrp="1"/>
          </p:cNvGraphicFramePr>
          <p:nvPr/>
        </p:nvGraphicFramePr>
        <p:xfrm>
          <a:off x="388945" y="4421434"/>
          <a:ext cx="17137410" cy="5865564"/>
        </p:xfrm>
        <a:graphic>
          <a:graphicData uri="http://schemas.openxmlformats.org/drawingml/2006/table">
            <a:tbl>
              <a:tblPr/>
              <a:tblGrid>
                <a:gridCol w="3847168">
                  <a:extLst>
                    <a:ext uri="{9D8B030D-6E8A-4147-A177-3AD203B41FA5}">
                      <a16:colId xmlns:a16="http://schemas.microsoft.com/office/drawing/2014/main" val="20000"/>
                    </a:ext>
                  </a:extLst>
                </a:gridCol>
                <a:gridCol w="13290242">
                  <a:extLst>
                    <a:ext uri="{9D8B030D-6E8A-4147-A177-3AD203B41FA5}">
                      <a16:colId xmlns:a16="http://schemas.microsoft.com/office/drawing/2014/main" val="20001"/>
                    </a:ext>
                  </a:extLst>
                </a:gridCol>
              </a:tblGrid>
              <a:tr h="1326449">
                <a:tc>
                  <a:txBody>
                    <a:bodyPr/>
                    <a:lstStyle/>
                    <a:p>
                      <a:pPr algn="ctr">
                        <a:lnSpc>
                          <a:spcPts val="4200"/>
                        </a:lnSpc>
                        <a:defRPr/>
                      </a:pPr>
                      <a:r>
                        <a:rPr lang="en-US" sz="3000">
                          <a:solidFill>
                            <a:srgbClr val="000000"/>
                          </a:solidFill>
                          <a:latin typeface="Anantason"/>
                          <a:ea typeface="Anantason"/>
                          <a:cs typeface="Anantason"/>
                          <a:sym typeface="Anantason"/>
                        </a:rPr>
                        <a:t>Overview</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A9F1"/>
                    </a:solidFill>
                  </a:tcPr>
                </a:tc>
                <a:tc>
                  <a:txBody>
                    <a:bodyPr/>
                    <a:lstStyle/>
                    <a:p>
                      <a:pPr algn="ctr">
                        <a:lnSpc>
                          <a:spcPts val="4200"/>
                        </a:lnSpc>
                        <a:defRPr/>
                      </a:pPr>
                      <a:r>
                        <a:rPr lang="en-US" sz="3000">
                          <a:solidFill>
                            <a:srgbClr val="000000"/>
                          </a:solidFill>
                          <a:latin typeface="Anantason"/>
                          <a:ea typeface="Anantason"/>
                          <a:cs typeface="Anantason"/>
                          <a:sym typeface="Anantason"/>
                        </a:rPr>
                        <a:t>Details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A9F1"/>
                    </a:solidFill>
                  </a:tcPr>
                </a:tc>
                <a:extLst>
                  <a:ext uri="{0D108BD9-81ED-4DB2-BD59-A6C34878D82A}">
                    <a16:rowId xmlns:a16="http://schemas.microsoft.com/office/drawing/2014/main" val="10000"/>
                  </a:ext>
                </a:extLst>
              </a:tr>
              <a:tr h="907823">
                <a:tc>
                  <a:txBody>
                    <a:bodyPr/>
                    <a:lstStyle/>
                    <a:p>
                      <a:pPr marL="539751" lvl="1" indent="-269876" algn="l">
                        <a:lnSpc>
                          <a:spcPts val="3500"/>
                        </a:lnSpc>
                        <a:buFont typeface="Arial"/>
                        <a:buChar char="•"/>
                        <a:defRPr/>
                      </a:pPr>
                      <a:r>
                        <a:rPr lang="en-US" sz="2500" b="1">
                          <a:solidFill>
                            <a:srgbClr val="000000"/>
                          </a:solidFill>
                          <a:latin typeface="Muli Bold"/>
                          <a:ea typeface="Muli Bold"/>
                          <a:cs typeface="Muli Bold"/>
                          <a:sym typeface="Muli Bold"/>
                        </a:rPr>
                        <a:t>S     Specific</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l">
                        <a:lnSpc>
                          <a:spcPts val="3360"/>
                        </a:lnSpc>
                        <a:defRPr/>
                      </a:pPr>
                      <a:r>
                        <a:rPr lang="en-US" sz="2400">
                          <a:solidFill>
                            <a:srgbClr val="000000"/>
                          </a:solidFill>
                          <a:latin typeface="Muli"/>
                          <a:ea typeface="Muli"/>
                          <a:cs typeface="Muli"/>
                          <a:sym typeface="Muli"/>
                        </a:rPr>
                        <a:t>What I want to acomplish is clearly defined and focused.</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07823">
                <a:tc>
                  <a:txBody>
                    <a:bodyPr/>
                    <a:lstStyle/>
                    <a:p>
                      <a:pPr marL="539751" lvl="1" indent="-269876" algn="l">
                        <a:lnSpc>
                          <a:spcPts val="3500"/>
                        </a:lnSpc>
                        <a:buFont typeface="Arial"/>
                        <a:buChar char="•"/>
                        <a:defRPr/>
                      </a:pPr>
                      <a:r>
                        <a:rPr lang="en-US" sz="2500" b="1">
                          <a:solidFill>
                            <a:srgbClr val="000000"/>
                          </a:solidFill>
                          <a:latin typeface="Muli Bold"/>
                          <a:ea typeface="Muli Bold"/>
                          <a:cs typeface="Muli Bold"/>
                          <a:sym typeface="Muli Bold"/>
                        </a:rPr>
                        <a:t>M    Measureable</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l">
                        <a:lnSpc>
                          <a:spcPts val="3360"/>
                        </a:lnSpc>
                        <a:defRPr/>
                      </a:pPr>
                      <a:r>
                        <a:rPr lang="en-US" sz="2400">
                          <a:solidFill>
                            <a:srgbClr val="000000"/>
                          </a:solidFill>
                          <a:latin typeface="Muli"/>
                          <a:ea typeface="Muli"/>
                          <a:cs typeface="Muli"/>
                          <a:sym typeface="Muli"/>
                        </a:rPr>
                        <a:t>There is quantifiable data to measure and importantly a criteria for my success.</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07823">
                <a:tc>
                  <a:txBody>
                    <a:bodyPr/>
                    <a:lstStyle/>
                    <a:p>
                      <a:pPr marL="539751" lvl="1" indent="-269876" algn="l">
                        <a:lnSpc>
                          <a:spcPts val="3500"/>
                        </a:lnSpc>
                        <a:buFont typeface="Arial"/>
                        <a:buChar char="•"/>
                        <a:defRPr/>
                      </a:pPr>
                      <a:r>
                        <a:rPr lang="en-US" sz="2500" b="1">
                          <a:solidFill>
                            <a:srgbClr val="000000"/>
                          </a:solidFill>
                          <a:latin typeface="Muli Bold"/>
                          <a:ea typeface="Muli Bold"/>
                          <a:cs typeface="Muli Bold"/>
                          <a:sym typeface="Muli Bold"/>
                        </a:rPr>
                        <a:t>A     Achievable</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l">
                        <a:lnSpc>
                          <a:spcPts val="3360"/>
                        </a:lnSpc>
                        <a:defRPr/>
                      </a:pPr>
                      <a:r>
                        <a:rPr lang="en-US" sz="2400">
                          <a:solidFill>
                            <a:srgbClr val="000000"/>
                          </a:solidFill>
                          <a:latin typeface="Muli"/>
                          <a:ea typeface="Muli"/>
                          <a:cs typeface="Muli"/>
                          <a:sym typeface="Muli"/>
                        </a:rPr>
                        <a:t>The project is realistic, within my skillset and the available resources of Tongji University.</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07823">
                <a:tc>
                  <a:txBody>
                    <a:bodyPr/>
                    <a:lstStyle/>
                    <a:p>
                      <a:pPr marL="539751" lvl="1" indent="-269876" algn="l">
                        <a:lnSpc>
                          <a:spcPts val="3500"/>
                        </a:lnSpc>
                        <a:buFont typeface="Arial"/>
                        <a:buChar char="•"/>
                        <a:defRPr/>
                      </a:pPr>
                      <a:r>
                        <a:rPr lang="en-US" sz="2500" b="1">
                          <a:solidFill>
                            <a:srgbClr val="000000"/>
                          </a:solidFill>
                          <a:latin typeface="Muli Bold"/>
                          <a:ea typeface="Muli Bold"/>
                          <a:cs typeface="Muli Bold"/>
                          <a:sym typeface="Muli Bold"/>
                        </a:rPr>
                        <a:t>R     Relevant</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l">
                        <a:lnSpc>
                          <a:spcPts val="3360"/>
                        </a:lnSpc>
                        <a:defRPr/>
                      </a:pPr>
                      <a:r>
                        <a:rPr lang="en-US" sz="2400">
                          <a:solidFill>
                            <a:srgbClr val="000000"/>
                          </a:solidFill>
                          <a:latin typeface="Muli"/>
                          <a:ea typeface="Muli"/>
                          <a:cs typeface="Muli"/>
                          <a:sym typeface="Muli"/>
                        </a:rPr>
                        <a:t>Why this project is important, it’s alignment with my overall skillset, career and experience.</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07823">
                <a:tc>
                  <a:txBody>
                    <a:bodyPr/>
                    <a:lstStyle/>
                    <a:p>
                      <a:pPr marL="539751" lvl="1" indent="-269876" algn="l">
                        <a:lnSpc>
                          <a:spcPts val="3500"/>
                        </a:lnSpc>
                        <a:buFont typeface="Arial"/>
                        <a:buChar char="•"/>
                        <a:defRPr/>
                      </a:pPr>
                      <a:r>
                        <a:rPr lang="en-US" sz="2500" b="1">
                          <a:solidFill>
                            <a:srgbClr val="000000"/>
                          </a:solidFill>
                          <a:latin typeface="Muli Bold"/>
                          <a:ea typeface="Muli Bold"/>
                          <a:cs typeface="Muli Bold"/>
                          <a:sym typeface="Muli Bold"/>
                        </a:rPr>
                        <a:t>T     Timebound</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l">
                        <a:lnSpc>
                          <a:spcPts val="3360"/>
                        </a:lnSpc>
                        <a:defRPr/>
                      </a:pPr>
                      <a:r>
                        <a:rPr lang="en-US" sz="2400">
                          <a:solidFill>
                            <a:srgbClr val="000000"/>
                          </a:solidFill>
                          <a:latin typeface="Muli"/>
                          <a:ea typeface="Muli"/>
                          <a:cs typeface="Muli"/>
                          <a:sym typeface="Muli"/>
                        </a:rPr>
                        <a:t>Timeframe for completion of the thesis and various project implementation is realistic.</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Box 5"/>
          <p:cNvSpPr txBox="1"/>
          <p:nvPr/>
        </p:nvSpPr>
        <p:spPr>
          <a:xfrm>
            <a:off x="2971326" y="561975"/>
            <a:ext cx="11260250" cy="923925"/>
          </a:xfrm>
          <a:prstGeom prst="rect">
            <a:avLst/>
          </a:prstGeom>
        </p:spPr>
        <p:txBody>
          <a:bodyPr lIns="0" tIns="0" rIns="0" bIns="0" rtlCol="0" anchor="t">
            <a:spAutoFit/>
          </a:bodyPr>
          <a:lstStyle/>
          <a:p>
            <a:pPr algn="l">
              <a:lnSpc>
                <a:spcPts val="7200"/>
              </a:lnSpc>
            </a:pPr>
            <a:r>
              <a:rPr lang="en-US" sz="6000" dirty="0">
                <a:solidFill>
                  <a:srgbClr val="000000"/>
                </a:solidFill>
                <a:latin typeface="Anantason"/>
                <a:ea typeface="Anantason"/>
                <a:cs typeface="Anantason"/>
                <a:sym typeface="Anantason"/>
              </a:rPr>
              <a:t>Framework guiding the research</a:t>
            </a:r>
          </a:p>
        </p:txBody>
      </p:sp>
      <p:sp>
        <p:nvSpPr>
          <p:cNvPr id="6" name="TextBox 6"/>
          <p:cNvSpPr txBox="1"/>
          <p:nvPr/>
        </p:nvSpPr>
        <p:spPr>
          <a:xfrm>
            <a:off x="0" y="1760954"/>
            <a:ext cx="17915300" cy="2580643"/>
          </a:xfrm>
          <a:prstGeom prst="rect">
            <a:avLst/>
          </a:prstGeom>
        </p:spPr>
        <p:txBody>
          <a:bodyPr lIns="0" tIns="0" rIns="0" bIns="0" rtlCol="0" anchor="t">
            <a:spAutoFit/>
          </a:bodyPr>
          <a:lstStyle/>
          <a:p>
            <a:pPr algn="ctr">
              <a:lnSpc>
                <a:spcPts val="3359"/>
              </a:lnSpc>
            </a:pPr>
            <a:r>
              <a:rPr lang="en-US" sz="2400" b="1" dirty="0">
                <a:solidFill>
                  <a:srgbClr val="000000"/>
                </a:solidFill>
                <a:latin typeface="Muli Bold"/>
                <a:ea typeface="Muli Bold"/>
                <a:cs typeface="Muli Bold"/>
                <a:sym typeface="Muli Bold"/>
              </a:rPr>
              <a:t>SMART</a:t>
            </a:r>
            <a:r>
              <a:rPr lang="en-US" sz="2400" dirty="0">
                <a:solidFill>
                  <a:srgbClr val="000000"/>
                </a:solidFill>
                <a:latin typeface="Muli"/>
                <a:ea typeface="Muli"/>
                <a:cs typeface="Muli"/>
                <a:sym typeface="Muli"/>
              </a:rPr>
              <a:t> Goals benefits?</a:t>
            </a:r>
          </a:p>
          <a:p>
            <a:pPr algn="ctr">
              <a:lnSpc>
                <a:spcPts val="3359"/>
              </a:lnSpc>
            </a:pPr>
            <a:endParaRPr lang="en-US" sz="2400" dirty="0">
              <a:solidFill>
                <a:srgbClr val="000000"/>
              </a:solidFill>
              <a:latin typeface="Muli"/>
              <a:ea typeface="Muli"/>
              <a:cs typeface="Muli"/>
              <a:sym typeface="Muli"/>
            </a:endParaRPr>
          </a:p>
          <a:p>
            <a:pPr algn="l">
              <a:lnSpc>
                <a:spcPts val="3359"/>
              </a:lnSpc>
            </a:pPr>
            <a:r>
              <a:rPr lang="en-US" sz="2400" dirty="0">
                <a:solidFill>
                  <a:srgbClr val="000000"/>
                </a:solidFill>
                <a:latin typeface="Muli"/>
                <a:ea typeface="Muli"/>
                <a:cs typeface="Muli"/>
                <a:sym typeface="Muli"/>
              </a:rPr>
              <a:t>-To ensure successful project execution, alignment and evaluation, the research will utilize the SMART framework to define project milestones and outcomes.                                        </a:t>
            </a:r>
          </a:p>
          <a:p>
            <a:pPr algn="ctr">
              <a:lnSpc>
                <a:spcPts val="3359"/>
              </a:lnSpc>
              <a:spcBef>
                <a:spcPct val="0"/>
              </a:spcBef>
            </a:pPr>
            <a:r>
              <a:rPr lang="en-US" sz="2400" dirty="0">
                <a:solidFill>
                  <a:srgbClr val="000000"/>
                </a:solidFill>
                <a:latin typeface="Muli"/>
                <a:ea typeface="Muli"/>
                <a:cs typeface="Muli"/>
                <a:sym typeface="Muli"/>
              </a:rPr>
              <a:t>-This facilitates a clear and mutual understanding of what constitutes a satisfactory result allowing me to build and train autonomously with </a:t>
            </a:r>
            <a:r>
              <a:rPr lang="en-GB" sz="2400" dirty="0">
                <a:effectLst/>
                <a:latin typeface="Muli" panose="020B0604020202020204" charset="0"/>
                <a:ea typeface="Times New Roman" panose="02020603050405020304" pitchFamily="18" charset="0"/>
              </a:rPr>
              <a:t>administrative oversight, assistance and support only required</a:t>
            </a:r>
            <a:r>
              <a:rPr lang="en-US" sz="2400" dirty="0">
                <a:solidFill>
                  <a:srgbClr val="000000"/>
                </a:solidFill>
                <a:latin typeface="Muli"/>
                <a:ea typeface="Muli"/>
                <a:cs typeface="Muli"/>
                <a:sym typeface="Muli"/>
              </a:rPr>
              <a:t>. SMART stands for: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476700" y="-1636318"/>
            <a:ext cx="8680381" cy="11710992"/>
          </a:xfrm>
          <a:custGeom>
            <a:avLst/>
            <a:gdLst/>
            <a:ahLst/>
            <a:cxnLst/>
            <a:rect l="l" t="t" r="r" b="b"/>
            <a:pathLst>
              <a:path w="8680381" h="11710992">
                <a:moveTo>
                  <a:pt x="0" y="0"/>
                </a:moveTo>
                <a:lnTo>
                  <a:pt x="8680381" y="0"/>
                </a:lnTo>
                <a:lnTo>
                  <a:pt x="8680381" y="11710992"/>
                </a:lnTo>
                <a:lnTo>
                  <a:pt x="0" y="11710992"/>
                </a:lnTo>
                <a:lnTo>
                  <a:pt x="0" y="0"/>
                </a:lnTo>
                <a:close/>
              </a:path>
            </a:pathLst>
          </a:custGeom>
          <a:blipFill>
            <a:blip r:embed="rId4">
              <a:extLst>
                <a:ext uri="{96DAC541-7B7A-43D3-8B79-37D633B846F1}">
                  <asvg:svgBlip xmlns:asvg="http://schemas.microsoft.com/office/drawing/2016/SVG/main" r:embed="rId5"/>
                </a:ext>
              </a:extLst>
            </a:blip>
            <a:stretch>
              <a:fillRect l="-34255" t="-2494"/>
            </a:stretch>
          </a:blipFill>
        </p:spPr>
        <p:txBody>
          <a:bodyPr/>
          <a:lstStyle/>
          <a:p>
            <a:endParaRPr lang="en-CA"/>
          </a:p>
        </p:txBody>
      </p:sp>
      <p:grpSp>
        <p:nvGrpSpPr>
          <p:cNvPr id="3" name="Group 3"/>
          <p:cNvGrpSpPr/>
          <p:nvPr/>
        </p:nvGrpSpPr>
        <p:grpSpPr>
          <a:xfrm>
            <a:off x="11476700" y="3953831"/>
            <a:ext cx="6811300" cy="6333169"/>
            <a:chOff x="0" y="0"/>
            <a:chExt cx="9081734" cy="8444226"/>
          </a:xfrm>
        </p:grpSpPr>
        <p:pic>
          <p:nvPicPr>
            <p:cNvPr id="4" name="Picture 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l="19751" r="19751"/>
            <a:stretch>
              <a:fillRect/>
            </a:stretch>
          </p:blipFill>
          <p:spPr>
            <a:xfrm>
              <a:off x="0" y="0"/>
              <a:ext cx="9081734" cy="8444226"/>
            </a:xfrm>
            <a:prstGeom prst="rect">
              <a:avLst/>
            </a:prstGeom>
          </p:spPr>
        </p:pic>
      </p:grpSp>
      <p:sp>
        <p:nvSpPr>
          <p:cNvPr id="5" name="Freeform 5"/>
          <p:cNvSpPr/>
          <p:nvPr/>
        </p:nvSpPr>
        <p:spPr>
          <a:xfrm>
            <a:off x="253135" y="1827425"/>
            <a:ext cx="613365" cy="613365"/>
          </a:xfrm>
          <a:custGeom>
            <a:avLst/>
            <a:gdLst/>
            <a:ahLst/>
            <a:cxnLst/>
            <a:rect l="l" t="t" r="r" b="b"/>
            <a:pathLst>
              <a:path w="613365" h="613365">
                <a:moveTo>
                  <a:pt x="0" y="0"/>
                </a:moveTo>
                <a:lnTo>
                  <a:pt x="613365" y="0"/>
                </a:lnTo>
                <a:lnTo>
                  <a:pt x="613365" y="613365"/>
                </a:lnTo>
                <a:lnTo>
                  <a:pt x="0" y="6133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CA"/>
          </a:p>
        </p:txBody>
      </p:sp>
      <p:sp>
        <p:nvSpPr>
          <p:cNvPr id="6" name="TextBox 6"/>
          <p:cNvSpPr txBox="1"/>
          <p:nvPr/>
        </p:nvSpPr>
        <p:spPr>
          <a:xfrm>
            <a:off x="1338033" y="465410"/>
            <a:ext cx="9357402" cy="1019175"/>
          </a:xfrm>
          <a:prstGeom prst="rect">
            <a:avLst/>
          </a:prstGeom>
        </p:spPr>
        <p:txBody>
          <a:bodyPr lIns="0" tIns="0" rIns="0" bIns="0" rtlCol="0" anchor="t">
            <a:spAutoFit/>
          </a:bodyPr>
          <a:lstStyle/>
          <a:p>
            <a:pPr algn="l">
              <a:lnSpc>
                <a:spcPts val="8040"/>
              </a:lnSpc>
            </a:pPr>
            <a:r>
              <a:rPr lang="en-US" sz="6700">
                <a:solidFill>
                  <a:srgbClr val="000000"/>
                </a:solidFill>
                <a:latin typeface="Anantason"/>
                <a:ea typeface="Anantason"/>
                <a:cs typeface="Anantason"/>
                <a:sym typeface="Anantason"/>
              </a:rPr>
              <a:t>Research Questions</a:t>
            </a:r>
          </a:p>
        </p:txBody>
      </p:sp>
      <p:grpSp>
        <p:nvGrpSpPr>
          <p:cNvPr id="7" name="Group 7"/>
          <p:cNvGrpSpPr/>
          <p:nvPr/>
        </p:nvGrpSpPr>
        <p:grpSpPr>
          <a:xfrm>
            <a:off x="1028700" y="4152943"/>
            <a:ext cx="9671758" cy="1673680"/>
            <a:chOff x="0" y="0"/>
            <a:chExt cx="12895677" cy="2231573"/>
          </a:xfrm>
        </p:grpSpPr>
        <p:sp>
          <p:nvSpPr>
            <p:cNvPr id="8" name="TextBox 8"/>
            <p:cNvSpPr txBox="1"/>
            <p:nvPr/>
          </p:nvSpPr>
          <p:spPr>
            <a:xfrm>
              <a:off x="0" y="0"/>
              <a:ext cx="12895677" cy="622300"/>
            </a:xfrm>
            <a:prstGeom prst="rect">
              <a:avLst/>
            </a:prstGeom>
          </p:spPr>
          <p:txBody>
            <a:bodyPr lIns="0" tIns="0" rIns="0" bIns="0" rtlCol="0" anchor="t">
              <a:spAutoFit/>
            </a:bodyPr>
            <a:lstStyle/>
            <a:p>
              <a:pPr marL="0" lvl="0" indent="0" algn="l">
                <a:lnSpc>
                  <a:spcPts val="3720"/>
                </a:lnSpc>
                <a:spcBef>
                  <a:spcPct val="0"/>
                </a:spcBef>
              </a:pPr>
              <a:r>
                <a:rPr lang="en-US" sz="3100">
                  <a:solidFill>
                    <a:srgbClr val="000000"/>
                  </a:solidFill>
                  <a:latin typeface="Anantason"/>
                  <a:ea typeface="Anantason"/>
                  <a:cs typeface="Anantason"/>
                  <a:sym typeface="Anantason"/>
                </a:rPr>
                <a:t>Hyper-parameter and Reward Optimization</a:t>
              </a:r>
            </a:p>
          </p:txBody>
        </p:sp>
        <p:sp>
          <p:nvSpPr>
            <p:cNvPr id="9" name="TextBox 9"/>
            <p:cNvSpPr txBox="1"/>
            <p:nvPr/>
          </p:nvSpPr>
          <p:spPr>
            <a:xfrm>
              <a:off x="0" y="778693"/>
              <a:ext cx="12895677" cy="1452880"/>
            </a:xfrm>
            <a:prstGeom prst="rect">
              <a:avLst/>
            </a:prstGeom>
          </p:spPr>
          <p:txBody>
            <a:bodyPr lIns="0" tIns="0" rIns="0" bIns="0" rtlCol="0" anchor="t">
              <a:spAutoFit/>
            </a:bodyPr>
            <a:lstStyle/>
            <a:p>
              <a:pPr algn="l">
                <a:lnSpc>
                  <a:spcPts val="2940"/>
                </a:lnSpc>
              </a:pPr>
              <a:r>
                <a:rPr lang="en-US" sz="2100">
                  <a:solidFill>
                    <a:srgbClr val="000000"/>
                  </a:solidFill>
                  <a:latin typeface="Muli"/>
                  <a:ea typeface="Muli"/>
                  <a:cs typeface="Muli"/>
                  <a:sym typeface="Muli"/>
                </a:rPr>
                <a:t>What specific hyper-parameters and reward structures are necessary to guarantee that the trained transport agents operate with the maximum safety and functional efficiency within the designated simulated environments?</a:t>
              </a:r>
            </a:p>
          </p:txBody>
        </p:sp>
      </p:grpSp>
      <p:grpSp>
        <p:nvGrpSpPr>
          <p:cNvPr id="10" name="Group 10"/>
          <p:cNvGrpSpPr/>
          <p:nvPr/>
        </p:nvGrpSpPr>
        <p:grpSpPr>
          <a:xfrm>
            <a:off x="1100941" y="1762043"/>
            <a:ext cx="9898489" cy="2045155"/>
            <a:chOff x="0" y="0"/>
            <a:chExt cx="13197985" cy="2726873"/>
          </a:xfrm>
        </p:grpSpPr>
        <p:sp>
          <p:nvSpPr>
            <p:cNvPr id="11" name="TextBox 11"/>
            <p:cNvSpPr txBox="1"/>
            <p:nvPr/>
          </p:nvSpPr>
          <p:spPr>
            <a:xfrm>
              <a:off x="0" y="0"/>
              <a:ext cx="13197985" cy="622300"/>
            </a:xfrm>
            <a:prstGeom prst="rect">
              <a:avLst/>
            </a:prstGeom>
          </p:spPr>
          <p:txBody>
            <a:bodyPr lIns="0" tIns="0" rIns="0" bIns="0" rtlCol="0" anchor="t">
              <a:spAutoFit/>
            </a:bodyPr>
            <a:lstStyle/>
            <a:p>
              <a:pPr marL="0" lvl="0" indent="0" algn="l">
                <a:lnSpc>
                  <a:spcPts val="3720"/>
                </a:lnSpc>
                <a:spcBef>
                  <a:spcPct val="0"/>
                </a:spcBef>
              </a:pPr>
              <a:r>
                <a:rPr lang="en-US" sz="3100">
                  <a:solidFill>
                    <a:srgbClr val="000000"/>
                  </a:solidFill>
                  <a:latin typeface="Anantason"/>
                  <a:ea typeface="Anantason"/>
                  <a:cs typeface="Anantason"/>
                  <a:sym typeface="Anantason"/>
                </a:rPr>
                <a:t>System Design and Navigation </a:t>
              </a:r>
            </a:p>
          </p:txBody>
        </p:sp>
        <p:sp>
          <p:nvSpPr>
            <p:cNvPr id="12" name="TextBox 12"/>
            <p:cNvSpPr txBox="1"/>
            <p:nvPr/>
          </p:nvSpPr>
          <p:spPr>
            <a:xfrm>
              <a:off x="0" y="778693"/>
              <a:ext cx="13197985" cy="1948180"/>
            </a:xfrm>
            <a:prstGeom prst="rect">
              <a:avLst/>
            </a:prstGeom>
          </p:spPr>
          <p:txBody>
            <a:bodyPr lIns="0" tIns="0" rIns="0" bIns="0" rtlCol="0" anchor="t">
              <a:spAutoFit/>
            </a:bodyPr>
            <a:lstStyle/>
            <a:p>
              <a:pPr algn="l">
                <a:lnSpc>
                  <a:spcPts val="2940"/>
                </a:lnSpc>
              </a:pPr>
              <a:r>
                <a:rPr lang="en-US" sz="2100">
                  <a:solidFill>
                    <a:srgbClr val="000000"/>
                  </a:solidFill>
                  <a:latin typeface="Muli"/>
                  <a:ea typeface="Muli"/>
                  <a:cs typeface="Muli"/>
                  <a:sym typeface="Muli"/>
                </a:rPr>
                <a:t>How can a Proximal Policy Optimization (PPO) framework be effectively architected and trained to endow multiple transportation agents with the decision-making ability required to navigate safely across diverse simulated environments and terrains? </a:t>
              </a:r>
            </a:p>
          </p:txBody>
        </p:sp>
      </p:grpSp>
      <p:grpSp>
        <p:nvGrpSpPr>
          <p:cNvPr id="13" name="Group 13"/>
          <p:cNvGrpSpPr/>
          <p:nvPr/>
        </p:nvGrpSpPr>
        <p:grpSpPr>
          <a:xfrm>
            <a:off x="1023678" y="6160963"/>
            <a:ext cx="9671758" cy="1673680"/>
            <a:chOff x="0" y="0"/>
            <a:chExt cx="12895677" cy="2231573"/>
          </a:xfrm>
        </p:grpSpPr>
        <p:sp>
          <p:nvSpPr>
            <p:cNvPr id="14" name="TextBox 14"/>
            <p:cNvSpPr txBox="1"/>
            <p:nvPr/>
          </p:nvSpPr>
          <p:spPr>
            <a:xfrm>
              <a:off x="0" y="0"/>
              <a:ext cx="12895677" cy="622300"/>
            </a:xfrm>
            <a:prstGeom prst="rect">
              <a:avLst/>
            </a:prstGeom>
          </p:spPr>
          <p:txBody>
            <a:bodyPr lIns="0" tIns="0" rIns="0" bIns="0" rtlCol="0" anchor="t">
              <a:spAutoFit/>
            </a:bodyPr>
            <a:lstStyle/>
            <a:p>
              <a:pPr marL="0" lvl="0" indent="0" algn="l">
                <a:lnSpc>
                  <a:spcPts val="3720"/>
                </a:lnSpc>
                <a:spcBef>
                  <a:spcPct val="0"/>
                </a:spcBef>
              </a:pPr>
              <a:r>
                <a:rPr lang="en-US" sz="3100">
                  <a:solidFill>
                    <a:srgbClr val="000000"/>
                  </a:solidFill>
                  <a:latin typeface="Anantason"/>
                  <a:ea typeface="Anantason"/>
                  <a:cs typeface="Anantason"/>
                  <a:sym typeface="Anantason"/>
                </a:rPr>
                <a:t>Policy Evaluation and Success Criteria: </a:t>
              </a:r>
            </a:p>
          </p:txBody>
        </p:sp>
        <p:sp>
          <p:nvSpPr>
            <p:cNvPr id="15" name="TextBox 15"/>
            <p:cNvSpPr txBox="1"/>
            <p:nvPr/>
          </p:nvSpPr>
          <p:spPr>
            <a:xfrm>
              <a:off x="0" y="778693"/>
              <a:ext cx="12895677" cy="1452880"/>
            </a:xfrm>
            <a:prstGeom prst="rect">
              <a:avLst/>
            </a:prstGeom>
          </p:spPr>
          <p:txBody>
            <a:bodyPr lIns="0" tIns="0" rIns="0" bIns="0" rtlCol="0" anchor="t">
              <a:spAutoFit/>
            </a:bodyPr>
            <a:lstStyle/>
            <a:p>
              <a:pPr algn="l">
                <a:lnSpc>
                  <a:spcPts val="2940"/>
                </a:lnSpc>
              </a:pPr>
              <a:r>
                <a:rPr lang="en-US" sz="2100">
                  <a:solidFill>
                    <a:srgbClr val="000000"/>
                  </a:solidFill>
                  <a:latin typeface="Muli"/>
                  <a:ea typeface="Muli"/>
                  <a:cs typeface="Muli"/>
                  <a:sym typeface="Muli"/>
                </a:rPr>
                <a:t>What objective and quantifiable metrics define a “well learned policy” for transportation agents in this context, and what level of performance is required to deem the training process successful?</a:t>
              </a:r>
            </a:p>
          </p:txBody>
        </p:sp>
      </p:grpSp>
      <p:sp>
        <p:nvSpPr>
          <p:cNvPr id="16" name="TextBox 16"/>
          <p:cNvSpPr txBox="1"/>
          <p:nvPr/>
        </p:nvSpPr>
        <p:spPr>
          <a:xfrm>
            <a:off x="11874900" y="2047385"/>
            <a:ext cx="6014900" cy="1169670"/>
          </a:xfrm>
          <a:prstGeom prst="rect">
            <a:avLst/>
          </a:prstGeom>
        </p:spPr>
        <p:txBody>
          <a:bodyPr lIns="0" tIns="0" rIns="0" bIns="0" rtlCol="0" anchor="t">
            <a:spAutoFit/>
          </a:bodyPr>
          <a:lstStyle/>
          <a:p>
            <a:pPr algn="l">
              <a:lnSpc>
                <a:spcPts val="3120"/>
              </a:lnSpc>
            </a:pPr>
            <a:r>
              <a:rPr lang="en-US" sz="2400" b="1">
                <a:solidFill>
                  <a:srgbClr val="000000"/>
                </a:solidFill>
                <a:latin typeface="Muli Bold"/>
                <a:ea typeface="Muli Bold"/>
                <a:cs typeface="Muli Bold"/>
                <a:sym typeface="Muli Bold"/>
              </a:rPr>
              <a:t>Trained LunarLander-v3 agent with Proximal Policy Optimization (PPO) algorithm in OpenAI Gymnasium.</a:t>
            </a:r>
          </a:p>
        </p:txBody>
      </p:sp>
      <p:sp>
        <p:nvSpPr>
          <p:cNvPr id="17" name="Freeform 17"/>
          <p:cNvSpPr/>
          <p:nvPr/>
        </p:nvSpPr>
        <p:spPr>
          <a:xfrm>
            <a:off x="253135" y="4152943"/>
            <a:ext cx="613365" cy="613365"/>
          </a:xfrm>
          <a:custGeom>
            <a:avLst/>
            <a:gdLst/>
            <a:ahLst/>
            <a:cxnLst/>
            <a:rect l="l" t="t" r="r" b="b"/>
            <a:pathLst>
              <a:path w="613365" h="613365">
                <a:moveTo>
                  <a:pt x="0" y="0"/>
                </a:moveTo>
                <a:lnTo>
                  <a:pt x="613365" y="0"/>
                </a:lnTo>
                <a:lnTo>
                  <a:pt x="613365" y="613365"/>
                </a:lnTo>
                <a:lnTo>
                  <a:pt x="0" y="6133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CA"/>
          </a:p>
        </p:txBody>
      </p:sp>
      <p:sp>
        <p:nvSpPr>
          <p:cNvPr id="18" name="Freeform 18"/>
          <p:cNvSpPr/>
          <p:nvPr/>
        </p:nvSpPr>
        <p:spPr>
          <a:xfrm>
            <a:off x="253135" y="6304230"/>
            <a:ext cx="613365" cy="613365"/>
          </a:xfrm>
          <a:custGeom>
            <a:avLst/>
            <a:gdLst/>
            <a:ahLst/>
            <a:cxnLst/>
            <a:rect l="l" t="t" r="r" b="b"/>
            <a:pathLst>
              <a:path w="613365" h="613365">
                <a:moveTo>
                  <a:pt x="0" y="0"/>
                </a:moveTo>
                <a:lnTo>
                  <a:pt x="613365" y="0"/>
                </a:lnTo>
                <a:lnTo>
                  <a:pt x="613365" y="613365"/>
                </a:lnTo>
                <a:lnTo>
                  <a:pt x="0" y="61336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CA"/>
          </a:p>
        </p:txBody>
      </p:sp>
      <p:sp>
        <p:nvSpPr>
          <p:cNvPr id="19" name="Freeform 19"/>
          <p:cNvSpPr/>
          <p:nvPr/>
        </p:nvSpPr>
        <p:spPr>
          <a:xfrm>
            <a:off x="253135" y="8389281"/>
            <a:ext cx="613365" cy="613365"/>
          </a:xfrm>
          <a:custGeom>
            <a:avLst/>
            <a:gdLst/>
            <a:ahLst/>
            <a:cxnLst/>
            <a:rect l="l" t="t" r="r" b="b"/>
            <a:pathLst>
              <a:path w="613365" h="613365">
                <a:moveTo>
                  <a:pt x="0" y="0"/>
                </a:moveTo>
                <a:lnTo>
                  <a:pt x="613365" y="0"/>
                </a:lnTo>
                <a:lnTo>
                  <a:pt x="613365" y="613365"/>
                </a:lnTo>
                <a:lnTo>
                  <a:pt x="0" y="61336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CA"/>
          </a:p>
        </p:txBody>
      </p:sp>
      <p:grpSp>
        <p:nvGrpSpPr>
          <p:cNvPr id="20" name="Group 20"/>
          <p:cNvGrpSpPr/>
          <p:nvPr/>
        </p:nvGrpSpPr>
        <p:grpSpPr>
          <a:xfrm>
            <a:off x="1028700" y="8360422"/>
            <a:ext cx="9671758" cy="1673680"/>
            <a:chOff x="0" y="0"/>
            <a:chExt cx="12895677" cy="2231573"/>
          </a:xfrm>
        </p:grpSpPr>
        <p:sp>
          <p:nvSpPr>
            <p:cNvPr id="21" name="TextBox 21"/>
            <p:cNvSpPr txBox="1"/>
            <p:nvPr/>
          </p:nvSpPr>
          <p:spPr>
            <a:xfrm>
              <a:off x="0" y="0"/>
              <a:ext cx="12895677" cy="622300"/>
            </a:xfrm>
            <a:prstGeom prst="rect">
              <a:avLst/>
            </a:prstGeom>
          </p:spPr>
          <p:txBody>
            <a:bodyPr lIns="0" tIns="0" rIns="0" bIns="0" rtlCol="0" anchor="t">
              <a:spAutoFit/>
            </a:bodyPr>
            <a:lstStyle/>
            <a:p>
              <a:pPr marL="0" lvl="0" indent="0" algn="l">
                <a:lnSpc>
                  <a:spcPts val="3720"/>
                </a:lnSpc>
                <a:spcBef>
                  <a:spcPct val="0"/>
                </a:spcBef>
              </a:pPr>
              <a:r>
                <a:rPr lang="en-US" sz="3100">
                  <a:solidFill>
                    <a:srgbClr val="000000"/>
                  </a:solidFill>
                  <a:latin typeface="Anantason"/>
                  <a:ea typeface="Anantason"/>
                  <a:cs typeface="Anantason"/>
                  <a:sym typeface="Anantason"/>
                </a:rPr>
                <a:t>Reproducibility and Robustness</a:t>
              </a:r>
            </a:p>
          </p:txBody>
        </p:sp>
        <p:sp>
          <p:nvSpPr>
            <p:cNvPr id="22" name="TextBox 22"/>
            <p:cNvSpPr txBox="1"/>
            <p:nvPr/>
          </p:nvSpPr>
          <p:spPr>
            <a:xfrm>
              <a:off x="0" y="778693"/>
              <a:ext cx="12895677" cy="1452880"/>
            </a:xfrm>
            <a:prstGeom prst="rect">
              <a:avLst/>
            </a:prstGeom>
          </p:spPr>
          <p:txBody>
            <a:bodyPr lIns="0" tIns="0" rIns="0" bIns="0" rtlCol="0" anchor="t">
              <a:spAutoFit/>
            </a:bodyPr>
            <a:lstStyle/>
            <a:p>
              <a:pPr algn="l">
                <a:lnSpc>
                  <a:spcPts val="2940"/>
                </a:lnSpc>
              </a:pPr>
              <a:r>
                <a:rPr lang="en-US" sz="2100">
                  <a:solidFill>
                    <a:srgbClr val="000000"/>
                  </a:solidFill>
                  <a:latin typeface="Muli"/>
                  <a:ea typeface="Muli"/>
                  <a:cs typeface="Muli"/>
                  <a:sym typeface="Muli"/>
                </a:rPr>
                <a:t>Given the identical algorithmic code, hyper-parameters, and simulated environment, can a replicated training run consistently reproduce similar or demonstrably superior performance results?</a:t>
              </a:r>
            </a:p>
          </p:txBody>
        </p:sp>
      </p:grpSp>
    </p:spTree>
  </p:cSld>
  <p:clrMapOvr>
    <a:masterClrMapping/>
  </p:clrMapOvr>
  <p:timing>
    <p:tnLst>
      <p:par>
        <p:cTn id="1" dur="indefinite" restart="never" nodeType="tmRoot">
          <p:childTnLst>
            <p:video>
              <p:cMediaNode vol="100000">
                <p:cTn id="2" fill="hold" display="0">
                  <p:stCondLst>
                    <p:cond delay="indefinite"/>
                  </p:stCondLst>
                </p:cTn>
                <p:tgtEl>
                  <p:spTgt spid="4"/>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sp>
        <p:nvSpPr>
          <p:cNvPr id="3" name="TextBox 3"/>
          <p:cNvSpPr txBox="1"/>
          <p:nvPr/>
        </p:nvSpPr>
        <p:spPr>
          <a:xfrm>
            <a:off x="2893829" y="500044"/>
            <a:ext cx="12676118" cy="1247775"/>
          </a:xfrm>
          <a:prstGeom prst="rect">
            <a:avLst/>
          </a:prstGeom>
        </p:spPr>
        <p:txBody>
          <a:bodyPr lIns="0" tIns="0" rIns="0" bIns="0" rtlCol="0" anchor="t">
            <a:spAutoFit/>
          </a:bodyPr>
          <a:lstStyle/>
          <a:p>
            <a:pPr algn="l">
              <a:lnSpc>
                <a:spcPts val="9840"/>
              </a:lnSpc>
            </a:pPr>
            <a:r>
              <a:rPr lang="en-US" sz="8200">
                <a:solidFill>
                  <a:srgbClr val="000000"/>
                </a:solidFill>
                <a:latin typeface="Anantason"/>
                <a:ea typeface="Anantason"/>
                <a:cs typeface="Anantason"/>
                <a:sym typeface="Anantason"/>
              </a:rPr>
              <a:t>Design and Methodology</a:t>
            </a:r>
          </a:p>
        </p:txBody>
      </p:sp>
      <p:sp>
        <p:nvSpPr>
          <p:cNvPr id="4" name="Freeform 4"/>
          <p:cNvSpPr/>
          <p:nvPr/>
        </p:nvSpPr>
        <p:spPr>
          <a:xfrm>
            <a:off x="10819701" y="1747819"/>
            <a:ext cx="10367048" cy="10677671"/>
          </a:xfrm>
          <a:custGeom>
            <a:avLst/>
            <a:gdLst/>
            <a:ahLst/>
            <a:cxnLst/>
            <a:rect l="l" t="t" r="r" b="b"/>
            <a:pathLst>
              <a:path w="10367048" h="10677671">
                <a:moveTo>
                  <a:pt x="0" y="0"/>
                </a:moveTo>
                <a:lnTo>
                  <a:pt x="10367048" y="0"/>
                </a:lnTo>
                <a:lnTo>
                  <a:pt x="10367048" y="10677671"/>
                </a:lnTo>
                <a:lnTo>
                  <a:pt x="0" y="106776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graphicFrame>
        <p:nvGraphicFramePr>
          <p:cNvPr id="5" name="Table 5"/>
          <p:cNvGraphicFramePr>
            <a:graphicFrameLocks noGrp="1"/>
          </p:cNvGraphicFramePr>
          <p:nvPr/>
        </p:nvGraphicFramePr>
        <p:xfrm>
          <a:off x="1116588" y="3209925"/>
          <a:ext cx="16054822" cy="7077075"/>
        </p:xfrm>
        <a:graphic>
          <a:graphicData uri="http://schemas.openxmlformats.org/drawingml/2006/table">
            <a:tbl>
              <a:tblPr/>
              <a:tblGrid>
                <a:gridCol w="5139340">
                  <a:extLst>
                    <a:ext uri="{9D8B030D-6E8A-4147-A177-3AD203B41FA5}">
                      <a16:colId xmlns:a16="http://schemas.microsoft.com/office/drawing/2014/main" val="20000"/>
                    </a:ext>
                  </a:extLst>
                </a:gridCol>
                <a:gridCol w="5225099">
                  <a:extLst>
                    <a:ext uri="{9D8B030D-6E8A-4147-A177-3AD203B41FA5}">
                      <a16:colId xmlns:a16="http://schemas.microsoft.com/office/drawing/2014/main" val="20001"/>
                    </a:ext>
                  </a:extLst>
                </a:gridCol>
                <a:gridCol w="5690383">
                  <a:extLst>
                    <a:ext uri="{9D8B030D-6E8A-4147-A177-3AD203B41FA5}">
                      <a16:colId xmlns:a16="http://schemas.microsoft.com/office/drawing/2014/main" val="20002"/>
                    </a:ext>
                  </a:extLst>
                </a:gridCol>
              </a:tblGrid>
              <a:tr h="1776432">
                <a:tc>
                  <a:txBody>
                    <a:bodyPr/>
                    <a:lstStyle/>
                    <a:p>
                      <a:pPr algn="ctr">
                        <a:lnSpc>
                          <a:spcPts val="4200"/>
                        </a:lnSpc>
                        <a:defRPr/>
                      </a:pPr>
                      <a:r>
                        <a:rPr lang="en-US" sz="3000">
                          <a:solidFill>
                            <a:srgbClr val="000000"/>
                          </a:solidFill>
                          <a:latin typeface="Anantason"/>
                          <a:ea typeface="Anantason"/>
                          <a:cs typeface="Anantason"/>
                          <a:sym typeface="Anantason"/>
                        </a:rPr>
                        <a:t>Custom Model Development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B4B4B4"/>
                    </a:solidFill>
                  </a:tcPr>
                </a:tc>
                <a:tc>
                  <a:txBody>
                    <a:bodyPr/>
                    <a:lstStyle/>
                    <a:p>
                      <a:pPr algn="ctr">
                        <a:lnSpc>
                          <a:spcPts val="4200"/>
                        </a:lnSpc>
                        <a:defRPr/>
                      </a:pPr>
                      <a:r>
                        <a:rPr lang="en-US" sz="3000">
                          <a:solidFill>
                            <a:srgbClr val="000000"/>
                          </a:solidFill>
                          <a:latin typeface="Anantason"/>
                          <a:ea typeface="Anantason"/>
                          <a:cs typeface="Anantason"/>
                          <a:sym typeface="Anantason"/>
                        </a:rPr>
                        <a:t>Simulation Development for Agent Training</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B4B4B4"/>
                    </a:solidFill>
                  </a:tcPr>
                </a:tc>
                <a:tc>
                  <a:txBody>
                    <a:bodyPr/>
                    <a:lstStyle/>
                    <a:p>
                      <a:pPr algn="ctr">
                        <a:lnSpc>
                          <a:spcPts val="4200"/>
                        </a:lnSpc>
                        <a:defRPr/>
                      </a:pPr>
                      <a:r>
                        <a:rPr lang="en-US" sz="3000">
                          <a:solidFill>
                            <a:srgbClr val="000000"/>
                          </a:solidFill>
                          <a:latin typeface="Anantason"/>
                          <a:ea typeface="Anantason"/>
                          <a:cs typeface="Anantason"/>
                          <a:sym typeface="Anantason"/>
                        </a:rPr>
                        <a:t>Experimental Science</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B4B4B4"/>
                    </a:solidFill>
                  </a:tcPr>
                </a:tc>
                <a:extLst>
                  <a:ext uri="{0D108BD9-81ED-4DB2-BD59-A6C34878D82A}">
                    <a16:rowId xmlns:a16="http://schemas.microsoft.com/office/drawing/2014/main" val="10000"/>
                  </a:ext>
                </a:extLst>
              </a:tr>
              <a:tr h="5300643">
                <a:tc>
                  <a:txBody>
                    <a:bodyPr/>
                    <a:lstStyle/>
                    <a:p>
                      <a:pPr marL="453393" lvl="1" indent="-226697" algn="l">
                        <a:lnSpc>
                          <a:spcPts val="2940"/>
                        </a:lnSpc>
                        <a:buFont typeface="Arial"/>
                        <a:buChar char="•"/>
                        <a:defRPr/>
                      </a:pPr>
                      <a:r>
                        <a:rPr lang="en-US" sz="2100">
                          <a:solidFill>
                            <a:srgbClr val="000000"/>
                          </a:solidFill>
                          <a:latin typeface="Muli"/>
                          <a:ea typeface="Muli"/>
                          <a:cs typeface="Muli"/>
                          <a:sym typeface="Muli"/>
                        </a:rPr>
                        <a:t>This foundational tier involves the complete implementation and integration of the entire Proximal Policy Optimization (PPO) pipeline. This involves defining the compute environment, selecting the Operating System (Linux), setting up the development infrastructure, designing the Model architecture (Actor-Critic Network), and ensuring its compatibility with the specific AI use-case (transportation decision-making).</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marL="453393" lvl="1" indent="-226697" algn="l">
                        <a:lnSpc>
                          <a:spcPts val="2940"/>
                        </a:lnSpc>
                        <a:buFont typeface="Arial"/>
                        <a:buChar char="•"/>
                        <a:defRPr/>
                      </a:pPr>
                      <a:r>
                        <a:rPr lang="en-US" sz="2100" dirty="0">
                          <a:solidFill>
                            <a:srgbClr val="000000"/>
                          </a:solidFill>
                          <a:latin typeface="Muli"/>
                          <a:ea typeface="Muli"/>
                          <a:cs typeface="Muli"/>
                          <a:sym typeface="Muli"/>
                        </a:rPr>
                        <a:t>This tier utilizes established open-source simulation environments, specifically OpenAI Gymnasium and Carla, as the application layer. These platforms would be used to integrate the custom PPO algorithm and train the Reinforcement Learning agent to achieve the necessary navigational and operational intelligence under real-world-like physics and conditions.</a:t>
                      </a:r>
                      <a:endParaRPr lang="en-US" sz="1100" dirty="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marL="453393" lvl="1" indent="-226697" algn="l">
                        <a:lnSpc>
                          <a:spcPts val="2940"/>
                        </a:lnSpc>
                        <a:buFont typeface="Arial"/>
                        <a:buChar char="•"/>
                        <a:defRPr/>
                      </a:pPr>
                      <a:r>
                        <a:rPr lang="en-US" sz="2100" dirty="0">
                          <a:solidFill>
                            <a:srgbClr val="000000"/>
                          </a:solidFill>
                          <a:latin typeface="Muli"/>
                          <a:ea typeface="Muli"/>
                          <a:cs typeface="Muli"/>
                          <a:sym typeface="Muli"/>
                        </a:rPr>
                        <a:t>This tier focuses on rigorous experimentation to maximize policy robustness and safety. It involves manipulating key variables, including training hyper-parameters, network size and custom reward/loss function.</a:t>
                      </a:r>
                      <a:endParaRPr lang="en-US" sz="1100" dirty="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bl>
          </a:graphicData>
        </a:graphic>
      </p:graphicFrame>
      <p:sp>
        <p:nvSpPr>
          <p:cNvPr id="6" name="TextBox 6"/>
          <p:cNvSpPr txBox="1"/>
          <p:nvPr/>
        </p:nvSpPr>
        <p:spPr>
          <a:xfrm>
            <a:off x="518357" y="2009120"/>
            <a:ext cx="17427064" cy="824865"/>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Anantason"/>
                <a:ea typeface="Anantason"/>
                <a:cs typeface="Anantason"/>
                <a:sym typeface="Anantason"/>
              </a:rPr>
              <a:t>The research design is strategically structured into three distinct tiers to ensure comprehensive development, rigorous experimentation and full control over the RL pipeline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sp>
        <p:nvSpPr>
          <p:cNvPr id="3" name="TextBox 3"/>
          <p:cNvSpPr txBox="1"/>
          <p:nvPr/>
        </p:nvSpPr>
        <p:spPr>
          <a:xfrm>
            <a:off x="4766278" y="452419"/>
            <a:ext cx="12676118" cy="923925"/>
          </a:xfrm>
          <a:prstGeom prst="rect">
            <a:avLst/>
          </a:prstGeom>
        </p:spPr>
        <p:txBody>
          <a:bodyPr lIns="0" tIns="0" rIns="0" bIns="0" rtlCol="0" anchor="t">
            <a:spAutoFit/>
          </a:bodyPr>
          <a:lstStyle/>
          <a:p>
            <a:pPr algn="l">
              <a:lnSpc>
                <a:spcPts val="7320"/>
              </a:lnSpc>
            </a:pPr>
            <a:r>
              <a:rPr lang="en-US" sz="6100">
                <a:solidFill>
                  <a:srgbClr val="000000"/>
                </a:solidFill>
                <a:latin typeface="Anantason"/>
                <a:ea typeface="Anantason"/>
                <a:cs typeface="Anantason"/>
                <a:sym typeface="Anantason"/>
              </a:rPr>
              <a:t>Comparative Analysis</a:t>
            </a:r>
          </a:p>
        </p:txBody>
      </p:sp>
      <p:sp>
        <p:nvSpPr>
          <p:cNvPr id="4" name="Freeform 4"/>
          <p:cNvSpPr/>
          <p:nvPr/>
        </p:nvSpPr>
        <p:spPr>
          <a:xfrm>
            <a:off x="10819701" y="1747819"/>
            <a:ext cx="10367048" cy="10677671"/>
          </a:xfrm>
          <a:custGeom>
            <a:avLst/>
            <a:gdLst/>
            <a:ahLst/>
            <a:cxnLst/>
            <a:rect l="l" t="t" r="r" b="b"/>
            <a:pathLst>
              <a:path w="10367048" h="10677671">
                <a:moveTo>
                  <a:pt x="0" y="0"/>
                </a:moveTo>
                <a:lnTo>
                  <a:pt x="10367048" y="0"/>
                </a:lnTo>
                <a:lnTo>
                  <a:pt x="10367048" y="10677671"/>
                </a:lnTo>
                <a:lnTo>
                  <a:pt x="0" y="106776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graphicFrame>
        <p:nvGraphicFramePr>
          <p:cNvPr id="5" name="Table 5"/>
          <p:cNvGraphicFramePr>
            <a:graphicFrameLocks noGrp="1"/>
          </p:cNvGraphicFramePr>
          <p:nvPr>
            <p:extLst>
              <p:ext uri="{D42A27DB-BD31-4B8C-83A1-F6EECF244321}">
                <p14:modId xmlns:p14="http://schemas.microsoft.com/office/powerpoint/2010/main" val="876514621"/>
              </p:ext>
            </p:extLst>
          </p:nvPr>
        </p:nvGraphicFramePr>
        <p:xfrm>
          <a:off x="876207" y="2645902"/>
          <a:ext cx="17030793" cy="7658579"/>
        </p:xfrm>
        <a:graphic>
          <a:graphicData uri="http://schemas.openxmlformats.org/drawingml/2006/table">
            <a:tbl>
              <a:tblPr/>
              <a:tblGrid>
                <a:gridCol w="4762593">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gridCol w="6248400">
                  <a:extLst>
                    <a:ext uri="{9D8B030D-6E8A-4147-A177-3AD203B41FA5}">
                      <a16:colId xmlns:a16="http://schemas.microsoft.com/office/drawing/2014/main" val="20002"/>
                    </a:ext>
                  </a:extLst>
                </a:gridCol>
              </a:tblGrid>
              <a:tr h="1776193">
                <a:tc>
                  <a:txBody>
                    <a:bodyPr/>
                    <a:lstStyle/>
                    <a:p>
                      <a:pPr algn="ctr">
                        <a:lnSpc>
                          <a:spcPts val="4200"/>
                        </a:lnSpc>
                        <a:defRPr/>
                      </a:pPr>
                      <a:r>
                        <a:rPr lang="en-US" sz="3000" dirty="0">
                          <a:solidFill>
                            <a:srgbClr val="000000"/>
                          </a:solidFill>
                          <a:latin typeface="Anantason"/>
                          <a:ea typeface="Anantason"/>
                          <a:cs typeface="Anantason"/>
                          <a:sym typeface="Anantason"/>
                        </a:rPr>
                        <a:t>Level 1: High-Level Abstraction</a:t>
                      </a:r>
                      <a:endParaRPr lang="en-US" sz="1100" dirty="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A9F1"/>
                    </a:solidFill>
                  </a:tcPr>
                </a:tc>
                <a:tc>
                  <a:txBody>
                    <a:bodyPr/>
                    <a:lstStyle/>
                    <a:p>
                      <a:pPr algn="ctr">
                        <a:lnSpc>
                          <a:spcPts val="4200"/>
                        </a:lnSpc>
                        <a:defRPr/>
                      </a:pPr>
                      <a:r>
                        <a:rPr lang="en-US" sz="3000">
                          <a:solidFill>
                            <a:srgbClr val="000000"/>
                          </a:solidFill>
                          <a:latin typeface="Anantason"/>
                          <a:ea typeface="Anantason"/>
                          <a:cs typeface="Anantason"/>
                          <a:sym typeface="Anantason"/>
                        </a:rPr>
                        <a:t>Level 2: Custom Algorithm Implementation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A9F1"/>
                    </a:solidFill>
                  </a:tcPr>
                </a:tc>
                <a:tc>
                  <a:txBody>
                    <a:bodyPr/>
                    <a:lstStyle/>
                    <a:p>
                      <a:pPr algn="ctr">
                        <a:lnSpc>
                          <a:spcPts val="4200"/>
                        </a:lnSpc>
                        <a:defRPr/>
                      </a:pPr>
                      <a:r>
                        <a:rPr lang="en-US" sz="3000">
                          <a:solidFill>
                            <a:srgbClr val="000000"/>
                          </a:solidFill>
                          <a:latin typeface="Anantason"/>
                          <a:ea typeface="Anantason"/>
                          <a:cs typeface="Anantason"/>
                          <a:sym typeface="Anantason"/>
                        </a:rPr>
                        <a:t>Level 3: Full Custom Production-Ready Pipeline </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A9F1"/>
                    </a:solidFill>
                  </a:tcPr>
                </a:tc>
                <a:extLst>
                  <a:ext uri="{0D108BD9-81ED-4DB2-BD59-A6C34878D82A}">
                    <a16:rowId xmlns:a16="http://schemas.microsoft.com/office/drawing/2014/main" val="10000"/>
                  </a:ext>
                </a:extLst>
              </a:tr>
              <a:tr h="5672357">
                <a:tc>
                  <a:txBody>
                    <a:bodyPr/>
                    <a:lstStyle/>
                    <a:p>
                      <a:pPr marL="453393" lvl="1" indent="-226697" algn="l">
                        <a:lnSpc>
                          <a:spcPts val="2940"/>
                        </a:lnSpc>
                        <a:buFont typeface="Arial"/>
                        <a:buChar char="•"/>
                        <a:defRPr/>
                      </a:pPr>
                      <a:r>
                        <a:rPr lang="en-US" sz="2100" dirty="0">
                          <a:solidFill>
                            <a:srgbClr val="000000"/>
                          </a:solidFill>
                          <a:latin typeface="Muli"/>
                          <a:ea typeface="Muli"/>
                          <a:cs typeface="Muli"/>
                          <a:sym typeface="Muli"/>
                        </a:rPr>
                        <a:t>The first approach utilizes highly abstracted, community-driven libraries, such as Stable Baseline3. These libraries are popular because they abstract complex mathematics and engineering, allowing for fast prototyping, benchmarking and execution of experiments with minimal code. Disadvantages include limited customization, significant abstraction overhead, and the framework being tied exclusively to the </a:t>
                      </a:r>
                      <a:r>
                        <a:rPr lang="en-US" sz="2100" dirty="0" err="1">
                          <a:solidFill>
                            <a:srgbClr val="000000"/>
                          </a:solidFill>
                          <a:latin typeface="Muli"/>
                          <a:ea typeface="Muli"/>
                          <a:cs typeface="Muli"/>
                          <a:sym typeface="Muli"/>
                        </a:rPr>
                        <a:t>pytorch</a:t>
                      </a:r>
                      <a:r>
                        <a:rPr lang="en-US" sz="2100" dirty="0">
                          <a:solidFill>
                            <a:srgbClr val="000000"/>
                          </a:solidFill>
                          <a:latin typeface="Muli"/>
                          <a:ea typeface="Muli"/>
                          <a:cs typeface="Muli"/>
                          <a:sym typeface="Muli"/>
                        </a:rPr>
                        <a:t> library.</a:t>
                      </a:r>
                      <a:endParaRPr lang="en-US" sz="1100" dirty="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marL="453393" lvl="1" indent="-226697" algn="l">
                        <a:lnSpc>
                          <a:spcPts val="2940"/>
                        </a:lnSpc>
                        <a:buFont typeface="Arial"/>
                        <a:buChar char="•"/>
                        <a:defRPr/>
                      </a:pPr>
                      <a:r>
                        <a:rPr lang="en-US" sz="2100" dirty="0">
                          <a:solidFill>
                            <a:srgbClr val="000000"/>
                          </a:solidFill>
                          <a:latin typeface="Muli"/>
                          <a:ea typeface="Muli"/>
                          <a:cs typeface="Muli"/>
                          <a:sym typeface="Muli"/>
                        </a:rPr>
                        <a:t>The next level involves deeper implementation using native framework like </a:t>
                      </a:r>
                      <a:r>
                        <a:rPr lang="en-US" sz="2100" dirty="0" err="1">
                          <a:solidFill>
                            <a:srgbClr val="000000"/>
                          </a:solidFill>
                          <a:latin typeface="Muli"/>
                          <a:ea typeface="Muli"/>
                          <a:cs typeface="Muli"/>
                          <a:sym typeface="Muli"/>
                        </a:rPr>
                        <a:t>Pytorch</a:t>
                      </a:r>
                      <a:r>
                        <a:rPr lang="en-US" sz="2100" dirty="0">
                          <a:solidFill>
                            <a:srgbClr val="000000"/>
                          </a:solidFill>
                          <a:latin typeface="Muli"/>
                          <a:ea typeface="Muli"/>
                          <a:cs typeface="Muli"/>
                          <a:sym typeface="Muli"/>
                        </a:rPr>
                        <a:t>, TensorFlow or Jax. This involves using highly transparent, single-file implementation (Such as </a:t>
                      </a:r>
                      <a:r>
                        <a:rPr lang="en-US" sz="2100" dirty="0" err="1">
                          <a:solidFill>
                            <a:srgbClr val="000000"/>
                          </a:solidFill>
                          <a:latin typeface="Muli"/>
                          <a:ea typeface="Muli"/>
                          <a:cs typeface="Muli"/>
                          <a:sym typeface="Muli"/>
                        </a:rPr>
                        <a:t>CleanRL</a:t>
                      </a:r>
                      <a:r>
                        <a:rPr lang="en-US" sz="2100" dirty="0">
                          <a:solidFill>
                            <a:srgbClr val="000000"/>
                          </a:solidFill>
                          <a:latin typeface="Muli"/>
                          <a:ea typeface="Muli"/>
                          <a:cs typeface="Muli"/>
                          <a:sym typeface="Muli"/>
                        </a:rPr>
                        <a:t>) or writing the core algorithmic code and using it to train a single policy for different agents simultaneously in a vectorized Gymnasium environment such as (Boxing, </a:t>
                      </a:r>
                      <a:r>
                        <a:rPr lang="en-US" sz="2100" dirty="0" err="1">
                          <a:solidFill>
                            <a:srgbClr val="000000"/>
                          </a:solidFill>
                          <a:latin typeface="Muli"/>
                          <a:ea typeface="Muli"/>
                          <a:cs typeface="Muli"/>
                          <a:sym typeface="Muli"/>
                        </a:rPr>
                        <a:t>HalfCheeter</a:t>
                      </a:r>
                      <a:r>
                        <a:rPr lang="en-US" sz="2100" dirty="0">
                          <a:solidFill>
                            <a:srgbClr val="000000"/>
                          </a:solidFill>
                          <a:latin typeface="Muli"/>
                          <a:ea typeface="Muli"/>
                          <a:cs typeface="Muli"/>
                          <a:sym typeface="Muli"/>
                        </a:rPr>
                        <a:t>, Ant). </a:t>
                      </a:r>
                      <a:r>
                        <a:rPr lang="en-GB" sz="2100" kern="1200" dirty="0">
                          <a:solidFill>
                            <a:schemeClr val="tx1"/>
                          </a:solidFill>
                          <a:effectLst/>
                          <a:latin typeface="Muli" panose="020B0604020202020204" charset="0"/>
                          <a:ea typeface="+mn-ea"/>
                          <a:cs typeface="+mn-cs"/>
                        </a:rPr>
                        <a:t>This approach offers a better level of customization that level 1, but still limits agents’ autonomy. Since all agents in the vector share a single set of weights, they are all tied to a single general policy.</a:t>
                      </a:r>
                      <a:endParaRPr lang="en-US" sz="2100" dirty="0">
                        <a:latin typeface="Muli" panose="020B0604020202020204" charset="0"/>
                      </a:endParaRPr>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marL="453393" lvl="1" indent="-226697" algn="l">
                        <a:lnSpc>
                          <a:spcPts val="2940"/>
                        </a:lnSpc>
                        <a:buFont typeface="Arial"/>
                        <a:buChar char="•"/>
                        <a:defRPr/>
                      </a:pPr>
                      <a:r>
                        <a:rPr lang="en-US" sz="2100" dirty="0">
                          <a:solidFill>
                            <a:srgbClr val="000000"/>
                          </a:solidFill>
                          <a:latin typeface="Muli"/>
                          <a:ea typeface="Muli"/>
                          <a:cs typeface="Muli"/>
                          <a:sym typeface="Muli"/>
                        </a:rPr>
                        <a:t>The chosen strategy for this research and development is to build a full custom Reinforcement Learning pipeline utilizing the TensorFlow framework </a:t>
                      </a:r>
                      <a:r>
                        <a:rPr lang="en-US" sz="2100" dirty="0" err="1">
                          <a:solidFill>
                            <a:srgbClr val="000000"/>
                          </a:solidFill>
                          <a:latin typeface="Muli"/>
                          <a:ea typeface="Muli"/>
                          <a:cs typeface="Muli"/>
                          <a:sym typeface="Muli"/>
                        </a:rPr>
                        <a:t>e.g</a:t>
                      </a:r>
                      <a:r>
                        <a:rPr lang="en-US" sz="2100" dirty="0">
                          <a:solidFill>
                            <a:srgbClr val="000000"/>
                          </a:solidFill>
                          <a:latin typeface="Muli"/>
                          <a:ea typeface="Muli"/>
                          <a:cs typeface="Muli"/>
                          <a:sym typeface="Muli"/>
                        </a:rPr>
                        <a:t> Policy-Value Network Architecture, Generalized Advantage Estimate (GAE) etc. It is suitable for production and tailored to the unique demands of safe transportation. This level of customization offers full control and maximum flexibility over every aspect of the algorithm, facilitating a deeper theoretical understanding, and enabling tailored performance for safety critical systems.</a:t>
                      </a:r>
                      <a:endParaRPr lang="en-US" sz="1100" dirty="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bl>
          </a:graphicData>
        </a:graphic>
      </p:graphicFrame>
      <p:sp>
        <p:nvSpPr>
          <p:cNvPr id="6" name="TextBox 6"/>
          <p:cNvSpPr txBox="1"/>
          <p:nvPr/>
        </p:nvSpPr>
        <p:spPr>
          <a:xfrm>
            <a:off x="619570" y="1497767"/>
            <a:ext cx="17427064" cy="836576"/>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Muli"/>
                <a:ea typeface="Muli"/>
                <a:cs typeface="Muli"/>
                <a:sym typeface="Muli"/>
              </a:rPr>
              <a:t>There are three preimary startegies for implementing real-world task involving Reinforcement Learning and this research and development would use the </a:t>
            </a:r>
            <a:r>
              <a:rPr lang="en-CA" sz="2400">
                <a:solidFill>
                  <a:srgbClr val="000000"/>
                </a:solidFill>
                <a:latin typeface="Muli"/>
                <a:ea typeface="Muli"/>
                <a:cs typeface="Muli"/>
                <a:sym typeface="Muli"/>
              </a:rPr>
              <a:t>“full </a:t>
            </a:r>
            <a:r>
              <a:rPr lang="en-US" sz="2400">
                <a:solidFill>
                  <a:srgbClr val="000000"/>
                </a:solidFill>
                <a:latin typeface="Muli"/>
                <a:ea typeface="Muli"/>
                <a:cs typeface="Muli"/>
                <a:sym typeface="Muli"/>
              </a:rPr>
              <a:t>custom</a:t>
            </a:r>
            <a:r>
              <a:rPr lang="en-CA" sz="2400">
                <a:solidFill>
                  <a:srgbClr val="000000"/>
                </a:solidFill>
                <a:latin typeface="Muli"/>
                <a:ea typeface="Muli"/>
                <a:cs typeface="Muli"/>
                <a:sym typeface="Muli"/>
              </a:rPr>
              <a:t> Production-Ready”</a:t>
            </a:r>
            <a:r>
              <a:rPr lang="en-US" sz="2400">
                <a:solidFill>
                  <a:srgbClr val="000000"/>
                </a:solidFill>
                <a:latin typeface="Muli"/>
                <a:ea typeface="Muli"/>
                <a:cs typeface="Muli"/>
                <a:sym typeface="Muli"/>
              </a:rPr>
              <a:t> approach, The strategies are as follows: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sp>
        <p:nvSpPr>
          <p:cNvPr id="3" name="Freeform 3"/>
          <p:cNvSpPr/>
          <p:nvPr/>
        </p:nvSpPr>
        <p:spPr>
          <a:xfrm>
            <a:off x="-1684031" y="-3348517"/>
            <a:ext cx="13287718" cy="13685852"/>
          </a:xfrm>
          <a:custGeom>
            <a:avLst/>
            <a:gdLst/>
            <a:ahLst/>
            <a:cxnLst/>
            <a:rect l="l" t="t" r="r" b="b"/>
            <a:pathLst>
              <a:path w="13287718" h="13685852">
                <a:moveTo>
                  <a:pt x="0" y="0"/>
                </a:moveTo>
                <a:lnTo>
                  <a:pt x="13287718" y="0"/>
                </a:lnTo>
                <a:lnTo>
                  <a:pt x="13287718" y="13685852"/>
                </a:lnTo>
                <a:lnTo>
                  <a:pt x="0" y="136858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graphicFrame>
        <p:nvGraphicFramePr>
          <p:cNvPr id="4" name="Table 4"/>
          <p:cNvGraphicFramePr>
            <a:graphicFrameLocks noGrp="1"/>
          </p:cNvGraphicFramePr>
          <p:nvPr/>
        </p:nvGraphicFramePr>
        <p:xfrm>
          <a:off x="777891" y="2366744"/>
          <a:ext cx="17137410" cy="7970592"/>
        </p:xfrm>
        <a:graphic>
          <a:graphicData uri="http://schemas.openxmlformats.org/drawingml/2006/table">
            <a:tbl>
              <a:tblPr/>
              <a:tblGrid>
                <a:gridCol w="5392390">
                  <a:extLst>
                    <a:ext uri="{9D8B030D-6E8A-4147-A177-3AD203B41FA5}">
                      <a16:colId xmlns:a16="http://schemas.microsoft.com/office/drawing/2014/main" val="20000"/>
                    </a:ext>
                  </a:extLst>
                </a:gridCol>
                <a:gridCol w="11745020">
                  <a:extLst>
                    <a:ext uri="{9D8B030D-6E8A-4147-A177-3AD203B41FA5}">
                      <a16:colId xmlns:a16="http://schemas.microsoft.com/office/drawing/2014/main" val="20001"/>
                    </a:ext>
                  </a:extLst>
                </a:gridCol>
              </a:tblGrid>
              <a:tr h="1325308">
                <a:tc>
                  <a:txBody>
                    <a:bodyPr/>
                    <a:lstStyle/>
                    <a:p>
                      <a:pPr algn="ctr">
                        <a:lnSpc>
                          <a:spcPts val="4200"/>
                        </a:lnSpc>
                        <a:defRPr/>
                      </a:pPr>
                      <a:r>
                        <a:rPr lang="en-US" sz="3000">
                          <a:solidFill>
                            <a:srgbClr val="000000"/>
                          </a:solidFill>
                          <a:latin typeface="Anantason"/>
                          <a:ea typeface="Anantason"/>
                          <a:cs typeface="Anantason"/>
                          <a:sym typeface="Anantason"/>
                        </a:rPr>
                        <a:t>Gaps Identified</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gradFill rotWithShape="1">
                      <a:gsLst>
                        <a:gs pos="0">
                          <a:srgbClr val="CDFFD8">
                            <a:alpha val="100000"/>
                          </a:srgbClr>
                        </a:gs>
                        <a:gs pos="100000">
                          <a:srgbClr val="94B9FF">
                            <a:alpha val="100000"/>
                          </a:srgbClr>
                        </a:gs>
                      </a:gsLst>
                      <a:lin ang="0"/>
                    </a:gradFill>
                  </a:tcPr>
                </a:tc>
                <a:tc>
                  <a:txBody>
                    <a:bodyPr/>
                    <a:lstStyle/>
                    <a:p>
                      <a:pPr algn="ctr">
                        <a:lnSpc>
                          <a:spcPts val="4200"/>
                        </a:lnSpc>
                        <a:defRPr/>
                      </a:pPr>
                      <a:r>
                        <a:rPr lang="en-US" sz="3000">
                          <a:solidFill>
                            <a:srgbClr val="000000"/>
                          </a:solidFill>
                          <a:latin typeface="Anantason"/>
                          <a:ea typeface="Anantason"/>
                          <a:cs typeface="Anantason"/>
                          <a:sym typeface="Anantason"/>
                        </a:rPr>
                        <a:t>Workaround / Solution Strategy</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gradFill rotWithShape="1">
                      <a:gsLst>
                        <a:gs pos="0">
                          <a:srgbClr val="CDFFD8">
                            <a:alpha val="100000"/>
                          </a:srgbClr>
                        </a:gs>
                        <a:gs pos="100000">
                          <a:srgbClr val="94B9FF">
                            <a:alpha val="100000"/>
                          </a:srgbClr>
                        </a:gs>
                      </a:gsLst>
                      <a:lin ang="0"/>
                    </a:gradFill>
                  </a:tcPr>
                </a:tc>
                <a:extLst>
                  <a:ext uri="{0D108BD9-81ED-4DB2-BD59-A6C34878D82A}">
                    <a16:rowId xmlns:a16="http://schemas.microsoft.com/office/drawing/2014/main" val="10000"/>
                  </a:ext>
                </a:extLst>
              </a:tr>
              <a:tr h="1661321">
                <a:tc>
                  <a:txBody>
                    <a:bodyPr/>
                    <a:lstStyle/>
                    <a:p>
                      <a:pPr marL="539751" lvl="1" indent="-269876" algn="l">
                        <a:lnSpc>
                          <a:spcPts val="3500"/>
                        </a:lnSpc>
                        <a:buFont typeface="Arial"/>
                        <a:buChar char="•"/>
                        <a:defRPr/>
                      </a:pPr>
                      <a:r>
                        <a:rPr lang="en-US" sz="2500" b="1">
                          <a:solidFill>
                            <a:srgbClr val="000000"/>
                          </a:solidFill>
                          <a:latin typeface="Muli Bold"/>
                          <a:ea typeface="Muli Bold"/>
                          <a:cs typeface="Muli Bold"/>
                          <a:sym typeface="Muli Bold"/>
                        </a:rPr>
                        <a:t>Safety as a Constraint</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l">
                        <a:lnSpc>
                          <a:spcPts val="3220"/>
                        </a:lnSpc>
                        <a:defRPr/>
                      </a:pPr>
                      <a:r>
                        <a:rPr lang="en-US" sz="2300" b="1">
                          <a:solidFill>
                            <a:srgbClr val="000000"/>
                          </a:solidFill>
                          <a:latin typeface="Muli Bold"/>
                          <a:ea typeface="Muli Bold"/>
                          <a:cs typeface="Muli Bold"/>
                          <a:sym typeface="Muli Bold"/>
                        </a:rPr>
                        <a:t>Constraint Policy Optimization (CPO)/Constraint Integration</a:t>
                      </a:r>
                      <a:r>
                        <a:rPr lang="en-US" sz="2300">
                          <a:solidFill>
                            <a:srgbClr val="000000"/>
                          </a:solidFill>
                          <a:latin typeface="Muli"/>
                          <a:ea typeface="Muli"/>
                          <a:cs typeface="Muli"/>
                          <a:sym typeface="Muli"/>
                        </a:rPr>
                        <a:t>: The problem is modified from simple reward maximization to maximizing reward subject to a constraint on risk</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661321">
                <a:tc>
                  <a:txBody>
                    <a:bodyPr/>
                    <a:lstStyle/>
                    <a:p>
                      <a:pPr marL="539751" lvl="1" indent="-269876" algn="l">
                        <a:lnSpc>
                          <a:spcPts val="3500"/>
                        </a:lnSpc>
                        <a:buFont typeface="Arial"/>
                        <a:buChar char="•"/>
                        <a:defRPr/>
                      </a:pPr>
                      <a:r>
                        <a:rPr lang="en-US" sz="2500" b="1">
                          <a:solidFill>
                            <a:srgbClr val="000000"/>
                          </a:solidFill>
                          <a:latin typeface="Muli Bold"/>
                          <a:ea typeface="Muli Bold"/>
                          <a:cs typeface="Muli Bold"/>
                          <a:sym typeface="Muli Bold"/>
                        </a:rPr>
                        <a:t>Lack of Real-Time Constraint Satisfaction</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l">
                        <a:lnSpc>
                          <a:spcPts val="3220"/>
                        </a:lnSpc>
                        <a:defRPr/>
                      </a:pPr>
                      <a:r>
                        <a:rPr lang="en-US" sz="2300" b="1">
                          <a:solidFill>
                            <a:srgbClr val="000000"/>
                          </a:solidFill>
                          <a:latin typeface="Muli Bold"/>
                          <a:ea typeface="Muli Bold"/>
                          <a:cs typeface="Muli Bold"/>
                          <a:sym typeface="Muli Bold"/>
                        </a:rPr>
                        <a:t>Augmented Reward/Loss Function:</a:t>
                      </a:r>
                      <a:r>
                        <a:rPr lang="en-US" sz="2300">
                          <a:solidFill>
                            <a:srgbClr val="000000"/>
                          </a:solidFill>
                          <a:latin typeface="Muli"/>
                          <a:ea typeface="Muli"/>
                          <a:cs typeface="Muli"/>
                          <a:sym typeface="Muli"/>
                        </a:rPr>
                        <a:t> A penalty term will be explictly integrated into the PPO loss function. This term will penalize the agent whenever a specific Real-Time constraint is violated forcing the policy to prioritize complaince</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661321">
                <a:tc>
                  <a:txBody>
                    <a:bodyPr/>
                    <a:lstStyle/>
                    <a:p>
                      <a:pPr marL="539751" lvl="1" indent="-269876" algn="l">
                        <a:lnSpc>
                          <a:spcPts val="3500"/>
                        </a:lnSpc>
                        <a:buFont typeface="Arial"/>
                        <a:buChar char="•"/>
                        <a:defRPr/>
                      </a:pPr>
                      <a:r>
                        <a:rPr lang="en-US" sz="2500" b="1">
                          <a:solidFill>
                            <a:srgbClr val="000000"/>
                          </a:solidFill>
                          <a:latin typeface="Muli Bold"/>
                          <a:ea typeface="Muli Bold"/>
                          <a:cs typeface="Muli Bold"/>
                          <a:sym typeface="Muli Bold"/>
                        </a:rPr>
                        <a:t>The Sim-to-Real Gap</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l">
                        <a:lnSpc>
                          <a:spcPts val="3220"/>
                        </a:lnSpc>
                        <a:defRPr/>
                      </a:pPr>
                      <a:r>
                        <a:rPr lang="en-US" sz="2300" b="1">
                          <a:solidFill>
                            <a:srgbClr val="000000"/>
                          </a:solidFill>
                          <a:latin typeface="Muli Bold"/>
                          <a:ea typeface="Muli Bold"/>
                          <a:cs typeface="Muli Bold"/>
                          <a:sym typeface="Muli Bold"/>
                        </a:rPr>
                        <a:t>Domain Randomization/ Domain Adaptation:</a:t>
                      </a:r>
                      <a:r>
                        <a:rPr lang="en-US" sz="2300">
                          <a:solidFill>
                            <a:srgbClr val="000000"/>
                          </a:solidFill>
                          <a:latin typeface="Muli"/>
                          <a:ea typeface="Muli"/>
                          <a:cs typeface="Muli"/>
                          <a:sym typeface="Muli"/>
                        </a:rPr>
                        <a:t> The policy is trained to be robust to uncertainty by varying simulator parameters during training such as sensor noise, lightening, friction.</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661321">
                <a:tc>
                  <a:txBody>
                    <a:bodyPr/>
                    <a:lstStyle/>
                    <a:p>
                      <a:pPr marL="539751" lvl="1" indent="-269876" algn="l">
                        <a:lnSpc>
                          <a:spcPts val="3500"/>
                        </a:lnSpc>
                        <a:buFont typeface="Arial"/>
                        <a:buChar char="•"/>
                        <a:defRPr/>
                      </a:pPr>
                      <a:r>
                        <a:rPr lang="en-US" sz="2500" b="1">
                          <a:solidFill>
                            <a:srgbClr val="000000"/>
                          </a:solidFill>
                          <a:latin typeface="Muli Bold"/>
                          <a:ea typeface="Muli Bold"/>
                          <a:cs typeface="Muli Bold"/>
                          <a:sym typeface="Muli Bold"/>
                        </a:rPr>
                        <a:t>Reproducibility and Robustness</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lgn="l">
                        <a:lnSpc>
                          <a:spcPts val="3220"/>
                        </a:lnSpc>
                        <a:defRPr/>
                      </a:pPr>
                      <a:r>
                        <a:rPr lang="en-US" sz="2300" b="1">
                          <a:solidFill>
                            <a:srgbClr val="000000"/>
                          </a:solidFill>
                          <a:latin typeface="Muli Bold"/>
                          <a:ea typeface="Muli Bold"/>
                          <a:cs typeface="Muli Bold"/>
                          <a:sym typeface="Muli Bold"/>
                        </a:rPr>
                        <a:t>Hyper-parameter tuning and Seed Management:</a:t>
                      </a:r>
                      <a:r>
                        <a:rPr lang="en-US" sz="2300">
                          <a:solidFill>
                            <a:srgbClr val="000000"/>
                          </a:solidFill>
                          <a:latin typeface="Muli"/>
                          <a:ea typeface="Muli"/>
                          <a:cs typeface="Muli"/>
                          <a:sym typeface="Muli"/>
                        </a:rPr>
                        <a:t> Policy stability is maximized through systematic management of training variables and random seeds across all training runs to ensure the learned policies are consistently reproducible</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Box 5"/>
          <p:cNvSpPr txBox="1"/>
          <p:nvPr/>
        </p:nvSpPr>
        <p:spPr>
          <a:xfrm>
            <a:off x="1756933" y="333520"/>
            <a:ext cx="16158367" cy="923925"/>
          </a:xfrm>
          <a:prstGeom prst="rect">
            <a:avLst/>
          </a:prstGeom>
        </p:spPr>
        <p:txBody>
          <a:bodyPr lIns="0" tIns="0" rIns="0" bIns="0" rtlCol="0" anchor="t">
            <a:spAutoFit/>
          </a:bodyPr>
          <a:lstStyle/>
          <a:p>
            <a:pPr algn="l">
              <a:lnSpc>
                <a:spcPts val="7200"/>
              </a:lnSpc>
            </a:pPr>
            <a:r>
              <a:rPr lang="en-US" sz="6000">
                <a:solidFill>
                  <a:srgbClr val="000000"/>
                </a:solidFill>
                <a:latin typeface="Anantason"/>
                <a:ea typeface="Anantason"/>
                <a:cs typeface="Anantason"/>
                <a:sym typeface="Anantason"/>
              </a:rPr>
              <a:t>Gaps in the current RL for Transportation</a:t>
            </a:r>
          </a:p>
        </p:txBody>
      </p:sp>
      <p:sp>
        <p:nvSpPr>
          <p:cNvPr id="6" name="TextBox 6"/>
          <p:cNvSpPr txBox="1"/>
          <p:nvPr/>
        </p:nvSpPr>
        <p:spPr>
          <a:xfrm>
            <a:off x="0" y="1375849"/>
            <a:ext cx="17915300" cy="824865"/>
          </a:xfrm>
          <a:prstGeom prst="rect">
            <a:avLst/>
          </a:prstGeom>
        </p:spPr>
        <p:txBody>
          <a:bodyPr lIns="0" tIns="0" rIns="0" bIns="0" rtlCol="0" anchor="t">
            <a:spAutoFit/>
          </a:bodyPr>
          <a:lstStyle/>
          <a:p>
            <a:pPr algn="ctr">
              <a:lnSpc>
                <a:spcPts val="3359"/>
              </a:lnSpc>
              <a:spcBef>
                <a:spcPct val="0"/>
              </a:spcBef>
            </a:pPr>
            <a:r>
              <a:rPr lang="en-US" sz="2400">
                <a:solidFill>
                  <a:srgbClr val="000000"/>
                </a:solidFill>
                <a:latin typeface="Muli"/>
                <a:ea typeface="Muli"/>
                <a:cs typeface="Muli"/>
                <a:sym typeface="Muli"/>
              </a:rPr>
              <a:t>While PPO is effective, its direct application to safety-critical transportation agents introduces specific challenges for this research which would also be addressed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724839" y="1385542"/>
            <a:ext cx="8956428" cy="9224785"/>
          </a:xfrm>
          <a:custGeom>
            <a:avLst/>
            <a:gdLst/>
            <a:ahLst/>
            <a:cxnLst/>
            <a:rect l="l" t="t" r="r" b="b"/>
            <a:pathLst>
              <a:path w="8956428" h="9224785">
                <a:moveTo>
                  <a:pt x="0" y="0"/>
                </a:moveTo>
                <a:lnTo>
                  <a:pt x="8956427" y="0"/>
                </a:lnTo>
                <a:lnTo>
                  <a:pt x="8956427" y="9224786"/>
                </a:lnTo>
                <a:lnTo>
                  <a:pt x="0" y="92247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216721" y="1685520"/>
            <a:ext cx="8857374" cy="8196978"/>
            <a:chOff x="0" y="0"/>
            <a:chExt cx="2674063" cy="2474688"/>
          </a:xfrm>
        </p:grpSpPr>
        <p:sp>
          <p:nvSpPr>
            <p:cNvPr id="4" name="Freeform 4"/>
            <p:cNvSpPr/>
            <p:nvPr/>
          </p:nvSpPr>
          <p:spPr>
            <a:xfrm>
              <a:off x="0" y="0"/>
              <a:ext cx="2674063" cy="2474688"/>
            </a:xfrm>
            <a:custGeom>
              <a:avLst/>
              <a:gdLst/>
              <a:ahLst/>
              <a:cxnLst/>
              <a:rect l="l" t="t" r="r" b="b"/>
              <a:pathLst>
                <a:path w="2674063" h="2474688">
                  <a:moveTo>
                    <a:pt x="26222" y="0"/>
                  </a:moveTo>
                  <a:lnTo>
                    <a:pt x="2647841" y="0"/>
                  </a:lnTo>
                  <a:cubicBezTo>
                    <a:pt x="2662323" y="0"/>
                    <a:pt x="2674063" y="11740"/>
                    <a:pt x="2674063" y="26222"/>
                  </a:cubicBezTo>
                  <a:lnTo>
                    <a:pt x="2674063" y="2448466"/>
                  </a:lnTo>
                  <a:cubicBezTo>
                    <a:pt x="2674063" y="2455420"/>
                    <a:pt x="2671300" y="2462090"/>
                    <a:pt x="2666383" y="2467008"/>
                  </a:cubicBezTo>
                  <a:cubicBezTo>
                    <a:pt x="2661465" y="2471925"/>
                    <a:pt x="2654796" y="2474688"/>
                    <a:pt x="2647841" y="2474688"/>
                  </a:cubicBezTo>
                  <a:lnTo>
                    <a:pt x="26222" y="2474688"/>
                  </a:lnTo>
                  <a:cubicBezTo>
                    <a:pt x="19267" y="2474688"/>
                    <a:pt x="12598" y="2471925"/>
                    <a:pt x="7680" y="2467008"/>
                  </a:cubicBezTo>
                  <a:cubicBezTo>
                    <a:pt x="2763" y="2462090"/>
                    <a:pt x="0" y="2455420"/>
                    <a:pt x="0" y="2448466"/>
                  </a:cubicBezTo>
                  <a:lnTo>
                    <a:pt x="0" y="26222"/>
                  </a:lnTo>
                  <a:cubicBezTo>
                    <a:pt x="0" y="19267"/>
                    <a:pt x="2763" y="12598"/>
                    <a:pt x="7680" y="7680"/>
                  </a:cubicBezTo>
                  <a:cubicBezTo>
                    <a:pt x="12598" y="2763"/>
                    <a:pt x="19267" y="0"/>
                    <a:pt x="26222" y="0"/>
                  </a:cubicBezTo>
                  <a:close/>
                </a:path>
              </a:pathLst>
            </a:custGeom>
            <a:solidFill>
              <a:srgbClr val="FFFFFF"/>
            </a:solidFill>
            <a:ln w="19050" cap="rnd">
              <a:solidFill>
                <a:srgbClr val="000000"/>
              </a:solidFill>
              <a:prstDash val="solid"/>
              <a:round/>
            </a:ln>
          </p:spPr>
          <p:txBody>
            <a:bodyPr/>
            <a:lstStyle/>
            <a:p>
              <a:endParaRPr lang="en-CA"/>
            </a:p>
          </p:txBody>
        </p:sp>
        <p:sp>
          <p:nvSpPr>
            <p:cNvPr id="5" name="TextBox 5"/>
            <p:cNvSpPr txBox="1"/>
            <p:nvPr/>
          </p:nvSpPr>
          <p:spPr>
            <a:xfrm>
              <a:off x="0" y="-28575"/>
              <a:ext cx="2674063" cy="2503263"/>
            </a:xfrm>
            <a:prstGeom prst="rect">
              <a:avLst/>
            </a:prstGeom>
          </p:spPr>
          <p:txBody>
            <a:bodyPr lIns="50800" tIns="50800" rIns="50800" bIns="50800" rtlCol="0" anchor="ctr"/>
            <a:lstStyle/>
            <a:p>
              <a:pPr algn="ctr">
                <a:lnSpc>
                  <a:spcPts val="2100"/>
                </a:lnSpc>
              </a:pPr>
              <a:endParaRPr/>
            </a:p>
          </p:txBody>
        </p:sp>
      </p:grpSp>
      <p:pic>
        <p:nvPicPr>
          <p:cNvPr id="6" name="Picture 6"/>
          <p:cNvPicPr>
            <a:picLocks noChangeAspect="1"/>
          </p:cNvPicPr>
          <p:nvPr/>
        </p:nvPicPr>
        <p:blipFill>
          <a:blip r:embed="rId4"/>
          <a:stretch>
            <a:fillRect/>
          </a:stretch>
        </p:blipFill>
        <p:spPr>
          <a:xfrm>
            <a:off x="305358" y="1586377"/>
            <a:ext cx="8680099" cy="8395264"/>
          </a:xfrm>
          <a:prstGeom prst="rect">
            <a:avLst/>
          </a:prstGeom>
        </p:spPr>
      </p:pic>
      <p:grpSp>
        <p:nvGrpSpPr>
          <p:cNvPr id="7" name="Group 7"/>
          <p:cNvGrpSpPr/>
          <p:nvPr/>
        </p:nvGrpSpPr>
        <p:grpSpPr>
          <a:xfrm>
            <a:off x="1768480" y="0"/>
            <a:ext cx="16281034" cy="12426424"/>
            <a:chOff x="0" y="0"/>
            <a:chExt cx="21708045" cy="16568565"/>
          </a:xfrm>
        </p:grpSpPr>
        <p:sp>
          <p:nvSpPr>
            <p:cNvPr id="8" name="TextBox 8"/>
            <p:cNvSpPr txBox="1"/>
            <p:nvPr/>
          </p:nvSpPr>
          <p:spPr>
            <a:xfrm>
              <a:off x="0" y="0"/>
              <a:ext cx="14743680" cy="1231900"/>
            </a:xfrm>
            <a:prstGeom prst="rect">
              <a:avLst/>
            </a:prstGeom>
          </p:spPr>
          <p:txBody>
            <a:bodyPr lIns="0" tIns="0" rIns="0" bIns="0" rtlCol="0" anchor="t">
              <a:spAutoFit/>
            </a:bodyPr>
            <a:lstStyle/>
            <a:p>
              <a:pPr algn="l">
                <a:lnSpc>
                  <a:spcPts val="7320"/>
                </a:lnSpc>
              </a:pPr>
              <a:r>
                <a:rPr lang="en-US" sz="6100">
                  <a:solidFill>
                    <a:srgbClr val="000000"/>
                  </a:solidFill>
                  <a:latin typeface="Anantason"/>
                  <a:ea typeface="Anantason"/>
                  <a:cs typeface="Anantason"/>
                  <a:sym typeface="Anantason"/>
                </a:rPr>
                <a:t>      Budget Analysis Milestone</a:t>
              </a:r>
            </a:p>
          </p:txBody>
        </p:sp>
        <p:sp>
          <p:nvSpPr>
            <p:cNvPr id="9" name="TextBox 9"/>
            <p:cNvSpPr txBox="1"/>
            <p:nvPr/>
          </p:nvSpPr>
          <p:spPr>
            <a:xfrm>
              <a:off x="10448972" y="2077230"/>
              <a:ext cx="11259074" cy="14491335"/>
            </a:xfrm>
            <a:prstGeom prst="rect">
              <a:avLst/>
            </a:prstGeom>
          </p:spPr>
          <p:txBody>
            <a:bodyPr lIns="0" tIns="0" rIns="0" bIns="0" rtlCol="0" anchor="t">
              <a:spAutoFit/>
            </a:bodyPr>
            <a:lstStyle/>
            <a:p>
              <a:pPr algn="l">
                <a:lnSpc>
                  <a:spcPts val="3120"/>
                </a:lnSpc>
              </a:pPr>
              <a:r>
                <a:rPr lang="en-US" sz="2400">
                  <a:solidFill>
                    <a:srgbClr val="000000"/>
                  </a:solidFill>
                  <a:latin typeface="Muli"/>
                  <a:ea typeface="Muli"/>
                  <a:cs typeface="Muli"/>
                  <a:sym typeface="Muli"/>
                </a:rPr>
                <a:t>The decision to build a custom dedicated infrastructure offers significant financial advantages, demonstrating fiscal responsibility to the university.</a:t>
              </a:r>
            </a:p>
            <a:p>
              <a:pPr algn="l">
                <a:lnSpc>
                  <a:spcPts val="3120"/>
                </a:lnSpc>
              </a:pPr>
              <a:endParaRPr lang="en-US" sz="2400">
                <a:solidFill>
                  <a:srgbClr val="000000"/>
                </a:solidFill>
                <a:latin typeface="Muli"/>
                <a:ea typeface="Muli"/>
                <a:cs typeface="Muli"/>
                <a:sym typeface="Muli"/>
              </a:endParaRPr>
            </a:p>
            <a:p>
              <a:pPr marL="518160" lvl="1" indent="-259080" algn="l">
                <a:lnSpc>
                  <a:spcPts val="3120"/>
                </a:lnSpc>
                <a:buFont typeface="Arial"/>
                <a:buChar char="•"/>
              </a:pPr>
              <a:r>
                <a:rPr lang="en-US" sz="2400" b="1">
                  <a:solidFill>
                    <a:srgbClr val="000000"/>
                  </a:solidFill>
                  <a:latin typeface="Muli Bold"/>
                  <a:ea typeface="Muli Bold"/>
                  <a:cs typeface="Muli Bold"/>
                  <a:sym typeface="Muli Bold"/>
                </a:rPr>
                <a:t>Alternative 1 (Cloud Compute| $1.7M – $2.1M) | 3-year estimate</a:t>
              </a:r>
              <a:r>
                <a:rPr lang="en-US" sz="2400">
                  <a:solidFill>
                    <a:srgbClr val="000000"/>
                  </a:solidFill>
                  <a:latin typeface="Muli"/>
                  <a:ea typeface="Muli"/>
                  <a:cs typeface="Muli"/>
                  <a:sym typeface="Muli"/>
                </a:rPr>
                <a:t>: This is for 1-3 researchers using major Cloud Service Provider (Google Cloud: 2,128,500 including SME fees; Alibaba Cloud: Approximately 1.7M). This is the cost I have averted by using a dedicated server.</a:t>
              </a:r>
            </a:p>
            <a:p>
              <a:pPr algn="l">
                <a:lnSpc>
                  <a:spcPts val="3120"/>
                </a:lnSpc>
              </a:pPr>
              <a:endParaRPr lang="en-US" sz="2400">
                <a:solidFill>
                  <a:srgbClr val="000000"/>
                </a:solidFill>
                <a:latin typeface="Muli"/>
                <a:ea typeface="Muli"/>
                <a:cs typeface="Muli"/>
                <a:sym typeface="Muli"/>
              </a:endParaRPr>
            </a:p>
            <a:p>
              <a:pPr marL="518160" lvl="1" indent="-259080" algn="l">
                <a:lnSpc>
                  <a:spcPts val="3120"/>
                </a:lnSpc>
                <a:buFont typeface="Arial"/>
                <a:buChar char="•"/>
              </a:pPr>
              <a:r>
                <a:rPr lang="en-US" sz="2400" b="1">
                  <a:solidFill>
                    <a:srgbClr val="000000"/>
                  </a:solidFill>
                  <a:latin typeface="Muli Bold"/>
                  <a:ea typeface="Muli Bold"/>
                  <a:cs typeface="Muli Bold"/>
                  <a:sym typeface="Muli Bold"/>
                </a:rPr>
                <a:t>Alternative 2 (Datacenter CapEx) |$6M – $100M estimate</a:t>
              </a:r>
              <a:r>
                <a:rPr lang="en-US" sz="2400">
                  <a:solidFill>
                    <a:srgbClr val="000000"/>
                  </a:solidFill>
                  <a:latin typeface="Muli"/>
                  <a:ea typeface="Muli"/>
                  <a:cs typeface="Muli"/>
                  <a:sym typeface="Muli"/>
                </a:rPr>
                <a:t>: Capital expenditure for building a high-performance datacenter, excluding the substantial annual Operational Expenditure (OpEx) for maintenance, power and engineers.</a:t>
              </a:r>
            </a:p>
            <a:p>
              <a:pPr algn="l">
                <a:lnSpc>
                  <a:spcPts val="3120"/>
                </a:lnSpc>
              </a:pPr>
              <a:endParaRPr lang="en-US" sz="2400">
                <a:solidFill>
                  <a:srgbClr val="000000"/>
                </a:solidFill>
                <a:latin typeface="Muli"/>
                <a:ea typeface="Muli"/>
                <a:cs typeface="Muli"/>
                <a:sym typeface="Muli"/>
              </a:endParaRPr>
            </a:p>
            <a:p>
              <a:pPr marL="518160" lvl="1" indent="-259080" algn="l">
                <a:lnSpc>
                  <a:spcPts val="3120"/>
                </a:lnSpc>
                <a:buFont typeface="Arial"/>
                <a:buChar char="•"/>
              </a:pPr>
              <a:r>
                <a:rPr lang="en-US" sz="2400" b="1">
                  <a:solidFill>
                    <a:srgbClr val="000000"/>
                  </a:solidFill>
                  <a:latin typeface="Muli Bold"/>
                  <a:ea typeface="Muli Bold"/>
                  <a:cs typeface="Muli Bold"/>
                  <a:sym typeface="Muli Bold"/>
                </a:rPr>
                <a:t>My solution (Dedicated Personal Server):</a:t>
              </a:r>
              <a:r>
                <a:rPr lang="en-US" sz="2400">
                  <a:solidFill>
                    <a:srgbClr val="000000"/>
                  </a:solidFill>
                  <a:latin typeface="Muli"/>
                  <a:ea typeface="Muli"/>
                  <a:cs typeface="Muli"/>
                  <a:sym typeface="Muli"/>
                </a:rPr>
                <a:t> $30k – $40k is the Total Actual Cost to Tongji University/ Shanghai Government for the doctorate program length.</a:t>
              </a:r>
            </a:p>
            <a:p>
              <a:pPr algn="l">
                <a:lnSpc>
                  <a:spcPts val="2990"/>
                </a:lnSpc>
              </a:pPr>
              <a:r>
                <a:rPr lang="en-US" sz="2300">
                  <a:solidFill>
                    <a:srgbClr val="000000"/>
                  </a:solidFill>
                  <a:latin typeface="Muli"/>
                  <a:ea typeface="Muli"/>
                  <a:cs typeface="Muli"/>
                  <a:sym typeface="Muli"/>
                </a:rPr>
                <a:t>This proposal represents a net cost reduction of over $1.67M for the Transportation Department/Tongji University when compared to the minimum cloud compute alternative.</a:t>
              </a:r>
            </a:p>
            <a:p>
              <a:pPr algn="l">
                <a:lnSpc>
                  <a:spcPts val="3120"/>
                </a:lnSpc>
              </a:pPr>
              <a:endParaRPr lang="en-US" sz="2300">
                <a:solidFill>
                  <a:srgbClr val="000000"/>
                </a:solidFill>
                <a:latin typeface="Muli"/>
                <a:ea typeface="Muli"/>
                <a:cs typeface="Muli"/>
                <a:sym typeface="Muli"/>
              </a:endParaRPr>
            </a:p>
            <a:p>
              <a:pPr algn="l">
                <a:lnSpc>
                  <a:spcPts val="3120"/>
                </a:lnSpc>
              </a:pPr>
              <a:endParaRPr lang="en-US" sz="2300">
                <a:solidFill>
                  <a:srgbClr val="000000"/>
                </a:solidFill>
                <a:latin typeface="Muli"/>
                <a:ea typeface="Muli"/>
                <a:cs typeface="Muli"/>
                <a:sym typeface="Muli"/>
              </a:endParaRPr>
            </a:p>
            <a:p>
              <a:pPr algn="l">
                <a:lnSpc>
                  <a:spcPts val="3120"/>
                </a:lnSpc>
              </a:pPr>
              <a:endParaRPr lang="en-US" sz="2300">
                <a:solidFill>
                  <a:srgbClr val="000000"/>
                </a:solidFill>
                <a:latin typeface="Muli"/>
                <a:ea typeface="Muli"/>
                <a:cs typeface="Muli"/>
                <a:sym typeface="Muli"/>
              </a:endParaRPr>
            </a:p>
            <a:p>
              <a:pPr algn="l">
                <a:lnSpc>
                  <a:spcPts val="3120"/>
                </a:lnSpc>
              </a:pPr>
              <a:endParaRPr lang="en-US" sz="2300">
                <a:solidFill>
                  <a:srgbClr val="000000"/>
                </a:solidFill>
                <a:latin typeface="Muli"/>
                <a:ea typeface="Muli"/>
                <a:cs typeface="Muli"/>
                <a:sym typeface="Muli"/>
              </a:endParaRPr>
            </a:p>
            <a:p>
              <a:pPr algn="l">
                <a:lnSpc>
                  <a:spcPts val="3120"/>
                </a:lnSpc>
              </a:pPr>
              <a:endParaRPr lang="en-US" sz="2300">
                <a:solidFill>
                  <a:srgbClr val="000000"/>
                </a:solidFill>
                <a:latin typeface="Muli"/>
                <a:ea typeface="Muli"/>
                <a:cs typeface="Muli"/>
                <a:sym typeface="Muli"/>
              </a:endParaRPr>
            </a:p>
            <a:p>
              <a:pPr algn="l">
                <a:lnSpc>
                  <a:spcPts val="3120"/>
                </a:lnSpc>
              </a:pPr>
              <a:endParaRPr lang="en-US" sz="2300">
                <a:solidFill>
                  <a:srgbClr val="000000"/>
                </a:solidFill>
                <a:latin typeface="Muli"/>
                <a:ea typeface="Muli"/>
                <a:cs typeface="Muli"/>
                <a:sym typeface="Mul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220380" y="547791"/>
            <a:ext cx="17847239" cy="9191417"/>
          </a:xfrm>
          <a:custGeom>
            <a:avLst/>
            <a:gdLst/>
            <a:ahLst/>
            <a:cxnLst/>
            <a:rect l="l" t="t" r="r" b="b"/>
            <a:pathLst>
              <a:path w="17847239" h="9191417">
                <a:moveTo>
                  <a:pt x="0" y="0"/>
                </a:moveTo>
                <a:lnTo>
                  <a:pt x="17847240" y="0"/>
                </a:lnTo>
                <a:lnTo>
                  <a:pt x="17847240" y="9191418"/>
                </a:lnTo>
                <a:lnTo>
                  <a:pt x="0" y="9191418"/>
                </a:lnTo>
                <a:lnTo>
                  <a:pt x="0" y="0"/>
                </a:lnTo>
                <a:close/>
              </a:path>
            </a:pathLst>
          </a:custGeom>
          <a:blipFill>
            <a:blip r:embed="rId2"/>
            <a:stretch>
              <a:fillRect l="-4787" r="-4787"/>
            </a:stretch>
          </a:blipFill>
        </p:spPr>
        <p:txBody>
          <a:bodyPr/>
          <a:lstStyle/>
          <a:p>
            <a:endParaRPr lang="en-CA"/>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sp>
        <p:nvSpPr>
          <p:cNvPr id="3" name="Freeform 3"/>
          <p:cNvSpPr/>
          <p:nvPr/>
        </p:nvSpPr>
        <p:spPr>
          <a:xfrm>
            <a:off x="-2038278" y="-2564113"/>
            <a:ext cx="13287718" cy="13685852"/>
          </a:xfrm>
          <a:custGeom>
            <a:avLst/>
            <a:gdLst/>
            <a:ahLst/>
            <a:cxnLst/>
            <a:rect l="l" t="t" r="r" b="b"/>
            <a:pathLst>
              <a:path w="13287718" h="13685852">
                <a:moveTo>
                  <a:pt x="0" y="0"/>
                </a:moveTo>
                <a:lnTo>
                  <a:pt x="13287718" y="0"/>
                </a:lnTo>
                <a:lnTo>
                  <a:pt x="13287718" y="13685852"/>
                </a:lnTo>
                <a:lnTo>
                  <a:pt x="0" y="136858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4" name="TextBox 4"/>
          <p:cNvSpPr txBox="1"/>
          <p:nvPr/>
        </p:nvSpPr>
        <p:spPr>
          <a:xfrm>
            <a:off x="4605581" y="312321"/>
            <a:ext cx="16158367" cy="923925"/>
          </a:xfrm>
          <a:prstGeom prst="rect">
            <a:avLst/>
          </a:prstGeom>
        </p:spPr>
        <p:txBody>
          <a:bodyPr lIns="0" tIns="0" rIns="0" bIns="0" rtlCol="0" anchor="t">
            <a:spAutoFit/>
          </a:bodyPr>
          <a:lstStyle/>
          <a:p>
            <a:pPr algn="l">
              <a:lnSpc>
                <a:spcPts val="7200"/>
              </a:lnSpc>
            </a:pPr>
            <a:r>
              <a:rPr lang="en-US" sz="6000">
                <a:solidFill>
                  <a:srgbClr val="000000"/>
                </a:solidFill>
                <a:latin typeface="Anantason"/>
                <a:ea typeface="Anantason"/>
                <a:cs typeface="Anantason"/>
                <a:sym typeface="Anantason"/>
              </a:rPr>
              <a:t>Education and Experience</a:t>
            </a:r>
          </a:p>
        </p:txBody>
      </p:sp>
      <p:sp>
        <p:nvSpPr>
          <p:cNvPr id="5" name="TextBox 5"/>
          <p:cNvSpPr txBox="1"/>
          <p:nvPr/>
        </p:nvSpPr>
        <p:spPr>
          <a:xfrm>
            <a:off x="0" y="1730096"/>
            <a:ext cx="17915300" cy="6273165"/>
          </a:xfrm>
          <a:prstGeom prst="rect">
            <a:avLst/>
          </a:prstGeom>
        </p:spPr>
        <p:txBody>
          <a:bodyPr lIns="0" tIns="0" rIns="0" bIns="0" rtlCol="0" anchor="t">
            <a:spAutoFit/>
          </a:bodyPr>
          <a:lstStyle/>
          <a:p>
            <a:pPr algn="ctr">
              <a:lnSpc>
                <a:spcPts val="3359"/>
              </a:lnSpc>
            </a:pPr>
            <a:r>
              <a:rPr lang="en-US" sz="2400" b="1">
                <a:solidFill>
                  <a:srgbClr val="000000"/>
                </a:solidFill>
                <a:latin typeface="Muli Bold"/>
                <a:ea typeface="Muli Bold"/>
                <a:cs typeface="Muli Bold"/>
                <a:sym typeface="Muli Bold"/>
              </a:rPr>
              <a:t>My Education</a:t>
            </a:r>
            <a:r>
              <a:rPr lang="en-US" sz="2400">
                <a:solidFill>
                  <a:srgbClr val="000000"/>
                </a:solidFill>
                <a:latin typeface="Muli"/>
                <a:ea typeface="Muli"/>
                <a:cs typeface="Muli"/>
                <a:sym typeface="Muli"/>
              </a:rPr>
              <a:t> is highlighted below:</a:t>
            </a:r>
          </a:p>
          <a:p>
            <a:pPr algn="ctr">
              <a:lnSpc>
                <a:spcPts val="3359"/>
              </a:lnSpc>
            </a:pPr>
            <a:endParaRPr lang="en-US" sz="2400">
              <a:solidFill>
                <a:srgbClr val="000000"/>
              </a:solidFill>
              <a:latin typeface="Muli"/>
              <a:ea typeface="Muli"/>
              <a:cs typeface="Muli"/>
              <a:sym typeface="Muli"/>
            </a:endParaRPr>
          </a:p>
          <a:p>
            <a:pPr algn="ctr">
              <a:lnSpc>
                <a:spcPts val="3359"/>
              </a:lnSpc>
            </a:pPr>
            <a:r>
              <a:rPr lang="en-US" sz="2400">
                <a:solidFill>
                  <a:srgbClr val="000000"/>
                </a:solidFill>
                <a:latin typeface="Muli"/>
                <a:ea typeface="Muli"/>
                <a:cs typeface="Muli"/>
                <a:sym typeface="Muli"/>
              </a:rPr>
              <a:t>Doctor of Engineering (In view): Transportation Engineering, </a:t>
            </a:r>
            <a:r>
              <a:rPr lang="en-US" sz="2400" b="1">
                <a:solidFill>
                  <a:srgbClr val="000000"/>
                </a:solidFill>
                <a:latin typeface="Muli Bold"/>
                <a:ea typeface="Muli Bold"/>
                <a:cs typeface="Muli Bold"/>
                <a:sym typeface="Muli Bold"/>
              </a:rPr>
              <a:t>Tongji University</a:t>
            </a:r>
            <a:r>
              <a:rPr lang="en-US" sz="2400">
                <a:solidFill>
                  <a:srgbClr val="000000"/>
                </a:solidFill>
                <a:latin typeface="Muli"/>
                <a:ea typeface="Muli"/>
                <a:cs typeface="Muli"/>
                <a:sym typeface="Muli"/>
              </a:rPr>
              <a:t>, China</a:t>
            </a:r>
          </a:p>
          <a:p>
            <a:pPr algn="ctr">
              <a:lnSpc>
                <a:spcPts val="3359"/>
              </a:lnSpc>
            </a:pPr>
            <a:r>
              <a:rPr lang="en-US" sz="2400">
                <a:solidFill>
                  <a:srgbClr val="000000"/>
                </a:solidFill>
                <a:latin typeface="Muli"/>
                <a:ea typeface="Muli"/>
                <a:cs typeface="Muli"/>
                <a:sym typeface="Muli"/>
              </a:rPr>
              <a:t> Master of Engineering (2016): Network Engineering, </a:t>
            </a:r>
            <a:r>
              <a:rPr lang="en-US" sz="2400" b="1">
                <a:solidFill>
                  <a:srgbClr val="000000"/>
                </a:solidFill>
                <a:latin typeface="Muli Bold"/>
                <a:ea typeface="Muli Bold"/>
                <a:cs typeface="Muli Bold"/>
                <a:sym typeface="Muli Bold"/>
              </a:rPr>
              <a:t>Toronto Metropolitan University</a:t>
            </a:r>
            <a:r>
              <a:rPr lang="en-US" sz="2400">
                <a:solidFill>
                  <a:srgbClr val="000000"/>
                </a:solidFill>
                <a:latin typeface="Muli"/>
                <a:ea typeface="Muli"/>
                <a:cs typeface="Muli"/>
                <a:sym typeface="Muli"/>
              </a:rPr>
              <a:t>, Canada</a:t>
            </a:r>
          </a:p>
          <a:p>
            <a:pPr algn="ctr">
              <a:lnSpc>
                <a:spcPts val="3359"/>
              </a:lnSpc>
            </a:pPr>
            <a:r>
              <a:rPr lang="en-US" sz="2400">
                <a:solidFill>
                  <a:srgbClr val="000000"/>
                </a:solidFill>
                <a:latin typeface="Muli"/>
                <a:ea typeface="Muli"/>
                <a:cs typeface="Muli"/>
                <a:sym typeface="Muli"/>
              </a:rPr>
              <a:t> Bachelor of Science (2013): Computer Science,</a:t>
            </a:r>
            <a:r>
              <a:rPr lang="en-US" sz="2400" b="1">
                <a:solidFill>
                  <a:srgbClr val="000000"/>
                </a:solidFill>
                <a:latin typeface="Muli Bold"/>
                <a:ea typeface="Muli Bold"/>
                <a:cs typeface="Muli Bold"/>
                <a:sym typeface="Muli Bold"/>
              </a:rPr>
              <a:t> Babcock University</a:t>
            </a:r>
            <a:r>
              <a:rPr lang="en-US" sz="2400">
                <a:solidFill>
                  <a:srgbClr val="000000"/>
                </a:solidFill>
                <a:latin typeface="Muli"/>
                <a:ea typeface="Muli"/>
                <a:cs typeface="Muli"/>
                <a:sym typeface="Muli"/>
              </a:rPr>
              <a:t>, Nigeria</a:t>
            </a:r>
          </a:p>
          <a:p>
            <a:pPr algn="ctr">
              <a:lnSpc>
                <a:spcPts val="3359"/>
              </a:lnSpc>
            </a:pPr>
            <a:endParaRPr lang="en-US" sz="2400">
              <a:solidFill>
                <a:srgbClr val="000000"/>
              </a:solidFill>
              <a:latin typeface="Muli"/>
              <a:ea typeface="Muli"/>
              <a:cs typeface="Muli"/>
              <a:sym typeface="Muli"/>
            </a:endParaRPr>
          </a:p>
          <a:p>
            <a:pPr algn="ctr">
              <a:lnSpc>
                <a:spcPts val="3359"/>
              </a:lnSpc>
            </a:pPr>
            <a:r>
              <a:rPr lang="en-US" sz="2400" b="1">
                <a:solidFill>
                  <a:srgbClr val="000000"/>
                </a:solidFill>
                <a:latin typeface="Muli Bold"/>
                <a:ea typeface="Muli Bold"/>
                <a:cs typeface="Muli Bold"/>
                <a:sym typeface="Muli Bold"/>
              </a:rPr>
              <a:t>My Experience</a:t>
            </a:r>
            <a:r>
              <a:rPr lang="en-US" sz="2400">
                <a:solidFill>
                  <a:srgbClr val="000000"/>
                </a:solidFill>
                <a:latin typeface="Muli"/>
                <a:ea typeface="Muli"/>
                <a:cs typeface="Muli"/>
                <a:sym typeface="Muli"/>
              </a:rPr>
              <a:t> highlighted below:</a:t>
            </a:r>
          </a:p>
          <a:p>
            <a:pPr algn="ctr">
              <a:lnSpc>
                <a:spcPts val="3359"/>
              </a:lnSpc>
            </a:pPr>
            <a:endParaRPr lang="en-US" sz="2400">
              <a:solidFill>
                <a:srgbClr val="000000"/>
              </a:solidFill>
              <a:latin typeface="Muli"/>
              <a:ea typeface="Muli"/>
              <a:cs typeface="Muli"/>
              <a:sym typeface="Muli"/>
            </a:endParaRPr>
          </a:p>
          <a:p>
            <a:pPr algn="ctr">
              <a:lnSpc>
                <a:spcPts val="3359"/>
              </a:lnSpc>
            </a:pPr>
            <a:r>
              <a:rPr lang="en-US" sz="2400">
                <a:solidFill>
                  <a:srgbClr val="000000"/>
                </a:solidFill>
                <a:latin typeface="Muli"/>
                <a:ea typeface="Muli"/>
                <a:cs typeface="Muli"/>
                <a:sym typeface="Muli"/>
              </a:rPr>
              <a:t>Cybersecurity Advisor-</a:t>
            </a:r>
            <a:r>
              <a:rPr lang="en-US" sz="2400" b="1">
                <a:solidFill>
                  <a:srgbClr val="000000"/>
                </a:solidFill>
                <a:latin typeface="Muli Bold"/>
                <a:ea typeface="Muli Bold"/>
                <a:cs typeface="Muli Bold"/>
                <a:sym typeface="Muli Bold"/>
              </a:rPr>
              <a:t> Bank of Montreal Canada</a:t>
            </a:r>
            <a:r>
              <a:rPr lang="en-US" sz="2400">
                <a:solidFill>
                  <a:srgbClr val="000000"/>
                </a:solidFill>
                <a:latin typeface="Muli"/>
                <a:ea typeface="Muli"/>
                <a:cs typeface="Muli"/>
                <a:sym typeface="Muli"/>
              </a:rPr>
              <a:t> (2022)</a:t>
            </a:r>
          </a:p>
          <a:p>
            <a:pPr algn="ctr">
              <a:lnSpc>
                <a:spcPts val="3359"/>
              </a:lnSpc>
            </a:pPr>
            <a:r>
              <a:rPr lang="en-US" sz="2400">
                <a:solidFill>
                  <a:srgbClr val="000000"/>
                </a:solidFill>
                <a:latin typeface="Muli"/>
                <a:ea typeface="Muli"/>
                <a:cs typeface="Muli"/>
                <a:sym typeface="Muli"/>
              </a:rPr>
              <a:t>Senior Cybersecurity Engineer/Team Lead (Micro and Macro Segmentation)- </a:t>
            </a:r>
            <a:r>
              <a:rPr lang="en-US" sz="2400" b="1">
                <a:solidFill>
                  <a:srgbClr val="000000"/>
                </a:solidFill>
                <a:latin typeface="Muli Bold"/>
                <a:ea typeface="Muli Bold"/>
                <a:cs typeface="Muli Bold"/>
                <a:sym typeface="Muli Bold"/>
              </a:rPr>
              <a:t>Toronto Dominion Bank Canada</a:t>
            </a:r>
            <a:r>
              <a:rPr lang="en-US" sz="2400">
                <a:solidFill>
                  <a:srgbClr val="000000"/>
                </a:solidFill>
                <a:latin typeface="Muli"/>
                <a:ea typeface="Muli"/>
                <a:cs typeface="Muli"/>
                <a:sym typeface="Muli"/>
              </a:rPr>
              <a:t> (2021)</a:t>
            </a:r>
          </a:p>
          <a:p>
            <a:pPr algn="ctr">
              <a:lnSpc>
                <a:spcPts val="3359"/>
              </a:lnSpc>
            </a:pPr>
            <a:r>
              <a:rPr lang="en-US" sz="2400">
                <a:solidFill>
                  <a:srgbClr val="000000"/>
                </a:solidFill>
                <a:latin typeface="Muli"/>
                <a:ea typeface="Muli"/>
                <a:cs typeface="Muli"/>
                <a:sym typeface="Muli"/>
              </a:rPr>
              <a:t>Cybersecurity Systems Engineer-</a:t>
            </a:r>
            <a:r>
              <a:rPr lang="en-US" sz="2400" b="1">
                <a:solidFill>
                  <a:srgbClr val="000000"/>
                </a:solidFill>
                <a:latin typeface="Muli Bold"/>
                <a:ea typeface="Muli Bold"/>
                <a:cs typeface="Muli Bold"/>
                <a:sym typeface="Muli Bold"/>
              </a:rPr>
              <a:t> Cisco Systems Canada</a:t>
            </a:r>
            <a:r>
              <a:rPr lang="en-US" sz="2400">
                <a:solidFill>
                  <a:srgbClr val="000000"/>
                </a:solidFill>
                <a:latin typeface="Muli"/>
                <a:ea typeface="Muli"/>
                <a:cs typeface="Muli"/>
                <a:sym typeface="Muli"/>
              </a:rPr>
              <a:t> (2019)</a:t>
            </a:r>
          </a:p>
          <a:p>
            <a:pPr algn="ctr">
              <a:lnSpc>
                <a:spcPts val="3359"/>
              </a:lnSpc>
            </a:pPr>
            <a:r>
              <a:rPr lang="en-US" sz="2400">
                <a:solidFill>
                  <a:srgbClr val="000000"/>
                </a:solidFill>
                <a:latin typeface="Muli"/>
                <a:ea typeface="Muli"/>
                <a:cs typeface="Muli"/>
                <a:sym typeface="Muli"/>
              </a:rPr>
              <a:t>Cybersecurity Consultant- </a:t>
            </a:r>
            <a:r>
              <a:rPr lang="en-US" sz="2400" b="1">
                <a:solidFill>
                  <a:srgbClr val="000000"/>
                </a:solidFill>
                <a:latin typeface="Muli Bold"/>
                <a:ea typeface="Muli Bold"/>
                <a:cs typeface="Muli Bold"/>
                <a:sym typeface="Muli Bold"/>
              </a:rPr>
              <a:t>Deloitte Canada</a:t>
            </a:r>
            <a:r>
              <a:rPr lang="en-US" sz="2400">
                <a:solidFill>
                  <a:srgbClr val="000000"/>
                </a:solidFill>
                <a:latin typeface="Muli"/>
                <a:ea typeface="Muli"/>
                <a:cs typeface="Muli"/>
                <a:sym typeface="Muli"/>
              </a:rPr>
              <a:t> (2018)</a:t>
            </a:r>
          </a:p>
          <a:p>
            <a:pPr algn="ctr">
              <a:lnSpc>
                <a:spcPts val="3359"/>
              </a:lnSpc>
            </a:pPr>
            <a:r>
              <a:rPr lang="en-US" sz="2400">
                <a:solidFill>
                  <a:srgbClr val="000000"/>
                </a:solidFill>
                <a:latin typeface="Muli"/>
                <a:ea typeface="Muli"/>
                <a:cs typeface="Muli"/>
                <a:sym typeface="Muli"/>
              </a:rPr>
              <a:t>Specialist Solution Architecture- </a:t>
            </a:r>
            <a:r>
              <a:rPr lang="en-US" sz="2400" b="1">
                <a:solidFill>
                  <a:srgbClr val="000000"/>
                </a:solidFill>
                <a:latin typeface="Muli Bold"/>
                <a:ea typeface="Muli Bold"/>
                <a:cs typeface="Muli Bold"/>
                <a:sym typeface="Muli Bold"/>
              </a:rPr>
              <a:t>Bell Canada (</a:t>
            </a:r>
            <a:r>
              <a:rPr lang="en-US" sz="2400">
                <a:solidFill>
                  <a:srgbClr val="000000"/>
                </a:solidFill>
                <a:latin typeface="Muli"/>
                <a:ea typeface="Muli"/>
                <a:cs typeface="Muli"/>
                <a:sym typeface="Muli"/>
              </a:rPr>
              <a:t>2017)</a:t>
            </a:r>
          </a:p>
          <a:p>
            <a:pPr algn="ctr">
              <a:lnSpc>
                <a:spcPts val="3359"/>
              </a:lnSpc>
            </a:pPr>
            <a:endParaRPr lang="en-US" sz="2400">
              <a:solidFill>
                <a:srgbClr val="000000"/>
              </a:solidFill>
              <a:latin typeface="Muli"/>
              <a:ea typeface="Muli"/>
              <a:cs typeface="Muli"/>
              <a:sym typeface="Muli"/>
            </a:endParaRPr>
          </a:p>
          <a:p>
            <a:pPr algn="ctr">
              <a:lnSpc>
                <a:spcPts val="3359"/>
              </a:lnSpc>
              <a:spcBef>
                <a:spcPct val="0"/>
              </a:spcBef>
            </a:pPr>
            <a:endParaRPr lang="en-US" sz="2400">
              <a:solidFill>
                <a:srgbClr val="000000"/>
              </a:solidFill>
              <a:latin typeface="Muli"/>
              <a:ea typeface="Muli"/>
              <a:cs typeface="Muli"/>
              <a:sym typeface="Mul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graphicFrame>
        <p:nvGraphicFramePr>
          <p:cNvPr id="3" name="Table 3"/>
          <p:cNvGraphicFramePr>
            <a:graphicFrameLocks noGrp="1"/>
          </p:cNvGraphicFramePr>
          <p:nvPr/>
        </p:nvGraphicFramePr>
        <p:xfrm>
          <a:off x="5826447" y="-300005"/>
          <a:ext cx="12284430" cy="10887008"/>
        </p:xfrm>
        <a:graphic>
          <a:graphicData uri="http://schemas.openxmlformats.org/drawingml/2006/table">
            <a:tbl>
              <a:tblPr/>
              <a:tblGrid>
                <a:gridCol w="1119171">
                  <a:extLst>
                    <a:ext uri="{9D8B030D-6E8A-4147-A177-3AD203B41FA5}">
                      <a16:colId xmlns:a16="http://schemas.microsoft.com/office/drawing/2014/main" val="20000"/>
                    </a:ext>
                  </a:extLst>
                </a:gridCol>
                <a:gridCol w="11165259">
                  <a:extLst>
                    <a:ext uri="{9D8B030D-6E8A-4147-A177-3AD203B41FA5}">
                      <a16:colId xmlns:a16="http://schemas.microsoft.com/office/drawing/2014/main" val="20001"/>
                    </a:ext>
                  </a:extLst>
                </a:gridCol>
              </a:tblGrid>
              <a:tr h="992336">
                <a:tc>
                  <a:txBody>
                    <a:bodyPr/>
                    <a:lstStyle/>
                    <a:p>
                      <a:pPr algn="ctr">
                        <a:lnSpc>
                          <a:spcPts val="2940"/>
                        </a:lnSpc>
                        <a:defRPr/>
                      </a:pPr>
                      <a:r>
                        <a:rPr lang="en-US" sz="2100" b="1">
                          <a:solidFill>
                            <a:srgbClr val="FFFFFF"/>
                          </a:solidFill>
                          <a:latin typeface="Anantason Bold"/>
                          <a:ea typeface="Anantason Bold"/>
                          <a:cs typeface="Anantason Bold"/>
                          <a:sym typeface="Anantason Bold"/>
                        </a:rPr>
                        <a:t>1</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100"/>
                        </a:lnSpc>
                        <a:defRPr/>
                      </a:pPr>
                      <a:r>
                        <a:rPr lang="en-US" sz="1500">
                          <a:solidFill>
                            <a:srgbClr val="000000"/>
                          </a:solidFill>
                          <a:latin typeface="Muli"/>
                          <a:ea typeface="Muli"/>
                          <a:cs typeface="Muli"/>
                          <a:sym typeface="Muli"/>
                        </a:rPr>
                        <a:t>R. S. Sutton and A. G. Barto. Reinforcement learning: An introduction. MIT press, 2018, 2nd Edition.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240420">
                <a:tc>
                  <a:txBody>
                    <a:bodyPr/>
                    <a:lstStyle/>
                    <a:p>
                      <a:pPr algn="ctr">
                        <a:lnSpc>
                          <a:spcPts val="2940"/>
                        </a:lnSpc>
                        <a:defRPr/>
                      </a:pPr>
                      <a:r>
                        <a:rPr lang="en-US" sz="2100" b="1">
                          <a:solidFill>
                            <a:srgbClr val="FFFFFF"/>
                          </a:solidFill>
                          <a:latin typeface="Anantason Bold"/>
                          <a:ea typeface="Anantason Bold"/>
                          <a:cs typeface="Anantason Bold"/>
                          <a:sym typeface="Anantason Bold"/>
                        </a:rPr>
                        <a:t>2</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100"/>
                        </a:lnSpc>
                        <a:defRPr/>
                      </a:pPr>
                      <a:r>
                        <a:rPr lang="en-US" sz="1500">
                          <a:solidFill>
                            <a:srgbClr val="000000"/>
                          </a:solidFill>
                          <a:latin typeface="Muli"/>
                          <a:ea typeface="Muli"/>
                          <a:cs typeface="Muli"/>
                          <a:sym typeface="Muli"/>
                        </a:rPr>
                        <a:t>University of California. SMART goals; A how to guide. </a:t>
                      </a:r>
                      <a:endParaRPr lang="en-US" sz="1100"/>
                    </a:p>
                    <a:p>
                      <a:pPr algn="l">
                        <a:lnSpc>
                          <a:spcPts val="2100"/>
                        </a:lnSpc>
                      </a:pPr>
                      <a:r>
                        <a:rPr lang="en-US" sz="1500">
                          <a:solidFill>
                            <a:srgbClr val="000000"/>
                          </a:solidFill>
                          <a:latin typeface="Muli"/>
                          <a:ea typeface="Muli"/>
                          <a:cs typeface="Muli"/>
                          <a:sym typeface="Muli"/>
                        </a:rPr>
                        <a:t>Page Number(s).</a:t>
                      </a:r>
                      <a:r>
                        <a:rPr lang="en-US" sz="1500" u="sng">
                          <a:solidFill>
                            <a:srgbClr val="000000"/>
                          </a:solidFill>
                          <a:latin typeface="Muli"/>
                          <a:ea typeface="Muli"/>
                          <a:cs typeface="Muli"/>
                          <a:sym typeface="Muli"/>
                          <a:hlinkClick r:id="rId3" tooltip="https://www.ucop.edu/local-human-resources/_files/performance-appraisal/How+to+write+SMART+Goals+v2.pdf"/>
                        </a:rPr>
                        <a:t>https://www.ucop.edu/local-human-resources/_files/performance-appraisal/How+to+write+SMART+Goals+v2.pdf</a:t>
                      </a:r>
                      <a:r>
                        <a:rPr lang="en-US" sz="1500">
                          <a:solidFill>
                            <a:srgbClr val="000000"/>
                          </a:solidFill>
                          <a:latin typeface="Muli"/>
                          <a:ea typeface="Muli"/>
                          <a:cs typeface="Muli"/>
                          <a:sym typeface="Muli"/>
                        </a:rPr>
                        <a:t>  </a:t>
                      </a: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36604">
                <a:tc>
                  <a:txBody>
                    <a:bodyPr/>
                    <a:lstStyle/>
                    <a:p>
                      <a:pPr algn="ctr">
                        <a:lnSpc>
                          <a:spcPts val="2940"/>
                        </a:lnSpc>
                        <a:defRPr/>
                      </a:pPr>
                      <a:r>
                        <a:rPr lang="en-US" sz="2100" b="1">
                          <a:solidFill>
                            <a:srgbClr val="FFFFFF"/>
                          </a:solidFill>
                          <a:latin typeface="Anantason Bold"/>
                          <a:ea typeface="Anantason Bold"/>
                          <a:cs typeface="Anantason Bold"/>
                          <a:sym typeface="Anantason Bold"/>
                        </a:rPr>
                        <a:t>3</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100"/>
                        </a:lnSpc>
                        <a:defRPr/>
                      </a:pPr>
                      <a:r>
                        <a:rPr lang="en-US" sz="1500">
                          <a:solidFill>
                            <a:srgbClr val="000000"/>
                          </a:solidFill>
                          <a:latin typeface="Muli"/>
                          <a:ea typeface="Muli"/>
                          <a:cs typeface="Muli"/>
                          <a:sym typeface="Muli"/>
                        </a:rPr>
                        <a:t>University of Toronto. Proposals. </a:t>
                      </a:r>
                      <a:endParaRPr lang="en-US" sz="1100"/>
                    </a:p>
                    <a:p>
                      <a:pPr algn="l">
                        <a:lnSpc>
                          <a:spcPts val="2100"/>
                        </a:lnSpc>
                      </a:pPr>
                      <a:r>
                        <a:rPr lang="en-US" sz="1500">
                          <a:solidFill>
                            <a:srgbClr val="000000"/>
                          </a:solidFill>
                          <a:latin typeface="Muli"/>
                          <a:ea typeface="Muli"/>
                          <a:cs typeface="Muli"/>
                          <a:sym typeface="Muli"/>
                        </a:rPr>
                        <a:t>Page Number(s). </a:t>
                      </a:r>
                      <a:r>
                        <a:rPr lang="en-US" sz="1500" u="sng">
                          <a:solidFill>
                            <a:srgbClr val="000000"/>
                          </a:solidFill>
                          <a:latin typeface="Muli"/>
                          <a:ea typeface="Muli"/>
                          <a:cs typeface="Muli"/>
                          <a:sym typeface="Muli"/>
                          <a:hlinkClick r:id="rId4" tooltip="https://ecp.engineering.utoronto.ca/resources/online-handbook/types-of-documents/proposals/"/>
                        </a:rPr>
                        <a:t>https://ecp.engineering.utoronto.ca/resources/online-handbook/types-of-documents/proposals/</a:t>
                      </a: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236604">
                <a:tc>
                  <a:txBody>
                    <a:bodyPr/>
                    <a:lstStyle/>
                    <a:p>
                      <a:pPr algn="ctr">
                        <a:lnSpc>
                          <a:spcPts val="2940"/>
                        </a:lnSpc>
                        <a:defRPr/>
                      </a:pPr>
                      <a:r>
                        <a:rPr lang="en-US" sz="2100" b="1">
                          <a:solidFill>
                            <a:srgbClr val="FFFFFF"/>
                          </a:solidFill>
                          <a:latin typeface="Anantason Bold"/>
                          <a:ea typeface="Anantason Bold"/>
                          <a:cs typeface="Anantason Bold"/>
                          <a:sym typeface="Anantason Bold"/>
                        </a:rPr>
                        <a:t>4</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100"/>
                        </a:lnSpc>
                        <a:defRPr/>
                      </a:pPr>
                      <a:r>
                        <a:rPr lang="en-US" sz="1500">
                          <a:solidFill>
                            <a:srgbClr val="000000"/>
                          </a:solidFill>
                          <a:latin typeface="Muli"/>
                          <a:ea typeface="Muli"/>
                          <a:cs typeface="Muli"/>
                          <a:sym typeface="Muli"/>
                        </a:rPr>
                        <a:t>D. Abel, A. Barreto, B. Van Roy, D. Precup, H. Van Hasselt, S. Singh. A Definition of Continual Reinforcement Learning. Page Number(s). </a:t>
                      </a:r>
                      <a:r>
                        <a:rPr lang="en-US" sz="1500" u="sng">
                          <a:solidFill>
                            <a:srgbClr val="000000"/>
                          </a:solidFill>
                          <a:latin typeface="Muli"/>
                          <a:ea typeface="Muli"/>
                          <a:cs typeface="Muli"/>
                          <a:sym typeface="Muli"/>
                          <a:hlinkClick r:id="rId5" tooltip="https://deepmind.google/research/publications/a-definition-of-continual-reinforcement-learning/"/>
                        </a:rPr>
                        <a:t>https://deepmind.google/research/publications/a-definition-of-continual-reinforcement-learning/</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92336">
                <a:tc>
                  <a:txBody>
                    <a:bodyPr/>
                    <a:lstStyle/>
                    <a:p>
                      <a:pPr algn="ctr">
                        <a:lnSpc>
                          <a:spcPts val="2940"/>
                        </a:lnSpc>
                        <a:defRPr/>
                      </a:pPr>
                      <a:r>
                        <a:rPr lang="en-US" sz="2100" b="1">
                          <a:solidFill>
                            <a:srgbClr val="FFFFFF"/>
                          </a:solidFill>
                          <a:latin typeface="Anantason Bold"/>
                          <a:ea typeface="Anantason Bold"/>
                          <a:cs typeface="Anantason Bold"/>
                          <a:sym typeface="Anantason Bold"/>
                        </a:rPr>
                        <a:t>5</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100"/>
                        </a:lnSpc>
                        <a:defRPr/>
                      </a:pPr>
                      <a:r>
                        <a:rPr lang="en-US" sz="1500">
                          <a:solidFill>
                            <a:srgbClr val="000000"/>
                          </a:solidFill>
                          <a:latin typeface="Muli"/>
                          <a:ea typeface="Muli"/>
                          <a:cs typeface="Muli"/>
                          <a:sym typeface="Muli"/>
                        </a:rPr>
                        <a:t>J. Schulman, F.Wolski, P.Dhariwal, A. Radford, O. Klimov: Proximal Policy Optimization Algorithms. arxiv:1707.06347, 2017</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92336">
                <a:tc>
                  <a:txBody>
                    <a:bodyPr/>
                    <a:lstStyle/>
                    <a:p>
                      <a:pPr algn="ctr">
                        <a:lnSpc>
                          <a:spcPts val="2940"/>
                        </a:lnSpc>
                        <a:defRPr/>
                      </a:pPr>
                      <a:r>
                        <a:rPr lang="en-US" sz="2100" b="1">
                          <a:solidFill>
                            <a:srgbClr val="FFFFFF"/>
                          </a:solidFill>
                          <a:latin typeface="Anantason Bold"/>
                          <a:ea typeface="Anantason Bold"/>
                          <a:cs typeface="Anantason Bold"/>
                          <a:sym typeface="Anantason Bold"/>
                        </a:rPr>
                        <a:t>6</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100"/>
                        </a:lnSpc>
                        <a:defRPr/>
                      </a:pPr>
                      <a:r>
                        <a:rPr lang="en-US" sz="1500">
                          <a:solidFill>
                            <a:srgbClr val="000000"/>
                          </a:solidFill>
                          <a:latin typeface="Muli"/>
                          <a:ea typeface="Muli"/>
                          <a:cs typeface="Muli"/>
                          <a:sym typeface="Muli"/>
                        </a:rPr>
                        <a:t>J. Achiam, S. L. Hoang, J. Schulman. Constrained Policy Optimization. arXiv:1705.10528</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219364">
                <a:tc>
                  <a:txBody>
                    <a:bodyPr/>
                    <a:lstStyle/>
                    <a:p>
                      <a:pPr algn="ctr">
                        <a:lnSpc>
                          <a:spcPts val="2940"/>
                        </a:lnSpc>
                        <a:defRPr/>
                      </a:pPr>
                      <a:r>
                        <a:rPr lang="en-US" sz="2100" b="1">
                          <a:solidFill>
                            <a:srgbClr val="FFFFFF"/>
                          </a:solidFill>
                          <a:latin typeface="Anantason Bold"/>
                          <a:ea typeface="Anantason Bold"/>
                          <a:cs typeface="Anantason Bold"/>
                          <a:sym typeface="Anantason Bold"/>
                        </a:rPr>
                        <a:t>7</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099"/>
                        </a:lnSpc>
                        <a:defRPr/>
                      </a:pPr>
                      <a:r>
                        <a:rPr lang="en-US" sz="1499">
                          <a:solidFill>
                            <a:srgbClr val="000000"/>
                          </a:solidFill>
                          <a:latin typeface="Arimo"/>
                          <a:ea typeface="Arimo"/>
                          <a:cs typeface="Arimo"/>
                          <a:sym typeface="Arimo"/>
                        </a:rPr>
                        <a:t>J. Tobin, R. Fong, A. Ray, J. Schneider, W. Zaremba, P. Abbeel. Domain Randomization for Transferring Deep Neural Networks from Simulation to the Real World. IEEE International Conference on Intelligent Robots and Systems (IROS), 2017</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992336">
                <a:tc>
                  <a:txBody>
                    <a:bodyPr/>
                    <a:lstStyle/>
                    <a:p>
                      <a:pPr algn="ctr">
                        <a:lnSpc>
                          <a:spcPts val="2940"/>
                        </a:lnSpc>
                        <a:defRPr/>
                      </a:pPr>
                      <a:r>
                        <a:rPr lang="en-US" sz="2100" b="1">
                          <a:solidFill>
                            <a:srgbClr val="FFFFFF"/>
                          </a:solidFill>
                          <a:latin typeface="Anantason Bold"/>
                          <a:ea typeface="Anantason Bold"/>
                          <a:cs typeface="Anantason Bold"/>
                          <a:sym typeface="Anantason Bold"/>
                        </a:rPr>
                        <a:t>8</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099"/>
                        </a:lnSpc>
                        <a:defRPr/>
                      </a:pPr>
                      <a:r>
                        <a:rPr lang="en-US" sz="1499">
                          <a:solidFill>
                            <a:srgbClr val="000000"/>
                          </a:solidFill>
                          <a:latin typeface="Arimo"/>
                          <a:ea typeface="Arimo"/>
                          <a:cs typeface="Arimo"/>
                          <a:sym typeface="Arimo"/>
                        </a:rPr>
                        <a:t>J. Schulman, P. Moritz, S. Levine, M. I. Jordan, P. Abbeel. High-Dimensional Continuous Control using Generalized Advantage Estimation. International Conference on Learning Representations (ICLR), 2016 </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992336">
                <a:tc>
                  <a:txBody>
                    <a:bodyPr/>
                    <a:lstStyle/>
                    <a:p>
                      <a:pPr algn="ctr">
                        <a:lnSpc>
                          <a:spcPts val="2940"/>
                        </a:lnSpc>
                        <a:defRPr/>
                      </a:pPr>
                      <a:r>
                        <a:rPr lang="en-US" sz="2100" b="1">
                          <a:solidFill>
                            <a:srgbClr val="FFFFFF"/>
                          </a:solidFill>
                          <a:latin typeface="Anantason Bold"/>
                          <a:ea typeface="Anantason Bold"/>
                          <a:cs typeface="Anantason Bold"/>
                          <a:sym typeface="Anantason Bold"/>
                        </a:rPr>
                        <a:t>9</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100"/>
                        </a:lnSpc>
                        <a:defRPr/>
                      </a:pPr>
                      <a:r>
                        <a:rPr lang="en-US" sz="1500">
                          <a:solidFill>
                            <a:srgbClr val="000000"/>
                          </a:solidFill>
                          <a:latin typeface="Muli"/>
                          <a:ea typeface="Muli"/>
                          <a:cs typeface="Muli"/>
                          <a:sym typeface="Muli"/>
                        </a:rPr>
                        <a:t>My open-sourced PPO Model code: </a:t>
                      </a:r>
                      <a:r>
                        <a:rPr lang="en-US" sz="1500" u="sng">
                          <a:solidFill>
                            <a:srgbClr val="000000"/>
                          </a:solidFill>
                          <a:latin typeface="Muli"/>
                          <a:ea typeface="Muli"/>
                          <a:cs typeface="Muli"/>
                          <a:sym typeface="Muli"/>
                          <a:hlinkClick r:id="rId6" tooltip="https://github.com/privateboss0/Model-Free_ReinforcementLearning_AI"/>
                        </a:rPr>
                        <a:t>https://github.com/privateboss0/Model-Free_ReinforcementLearning_AI</a:t>
                      </a:r>
                      <a:r>
                        <a:rPr lang="en-US" sz="1500">
                          <a:solidFill>
                            <a:srgbClr val="000000"/>
                          </a:solidFill>
                          <a:latin typeface="Muli"/>
                          <a:ea typeface="Muli"/>
                          <a:cs typeface="Muli"/>
                          <a:sym typeface="Muli"/>
                        </a:rPr>
                        <a:t> </a:t>
                      </a:r>
                      <a:endParaRPr lang="en-US" sz="1100"/>
                    </a:p>
                    <a:p>
                      <a:pPr algn="l">
                        <a:lnSpc>
                          <a:spcPts val="2100"/>
                        </a:lnSpc>
                      </a:pP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992336">
                <a:tc>
                  <a:txBody>
                    <a:bodyPr/>
                    <a:lstStyle/>
                    <a:p>
                      <a:pPr algn="ctr">
                        <a:lnSpc>
                          <a:spcPts val="2940"/>
                        </a:lnSpc>
                        <a:defRPr/>
                      </a:pPr>
                      <a:r>
                        <a:rPr lang="en-US" sz="2100" b="1">
                          <a:solidFill>
                            <a:srgbClr val="FFFFFF"/>
                          </a:solidFill>
                          <a:latin typeface="Anantason Bold"/>
                          <a:ea typeface="Anantason Bold"/>
                          <a:cs typeface="Anantason Bold"/>
                          <a:sym typeface="Anantason Bold"/>
                        </a:rPr>
                        <a:t>10</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8AD79"/>
                    </a:solidFill>
                  </a:tcPr>
                </a:tc>
                <a:tc>
                  <a:txBody>
                    <a:bodyPr/>
                    <a:lstStyle/>
                    <a:p>
                      <a:pPr algn="l">
                        <a:lnSpc>
                          <a:spcPts val="2099"/>
                        </a:lnSpc>
                        <a:defRPr/>
                      </a:pPr>
                      <a:r>
                        <a:rPr lang="en-US" sz="1499">
                          <a:solidFill>
                            <a:srgbClr val="000000"/>
                          </a:solidFill>
                          <a:latin typeface="Arimo"/>
                          <a:ea typeface="Arimo"/>
                          <a:cs typeface="Arimo"/>
                          <a:sym typeface="Arimo"/>
                        </a:rPr>
                        <a:t>My open-sourced PPO training dataset: </a:t>
                      </a:r>
                      <a:r>
                        <a:rPr lang="en-US" sz="1499" u="sng">
                          <a:solidFill>
                            <a:srgbClr val="1A62FF"/>
                          </a:solidFill>
                          <a:latin typeface="Arimo"/>
                          <a:ea typeface="Arimo"/>
                          <a:cs typeface="Arimo"/>
                          <a:sym typeface="Arimo"/>
                          <a:hlinkClick r:id="rId7" tooltip="https://huggingface.co/privateboss"/>
                        </a:rPr>
                        <a:t>https://huggingface.co/privateboss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4" name="TextBox 4"/>
          <p:cNvSpPr txBox="1"/>
          <p:nvPr/>
        </p:nvSpPr>
        <p:spPr>
          <a:xfrm>
            <a:off x="1028700" y="1038225"/>
            <a:ext cx="5757249" cy="2562225"/>
          </a:xfrm>
          <a:prstGeom prst="rect">
            <a:avLst/>
          </a:prstGeom>
        </p:spPr>
        <p:txBody>
          <a:bodyPr lIns="0" tIns="0" rIns="0" bIns="0" rtlCol="0" anchor="t">
            <a:spAutoFit/>
          </a:bodyPr>
          <a:lstStyle/>
          <a:p>
            <a:pPr algn="l">
              <a:lnSpc>
                <a:spcPts val="10199"/>
              </a:lnSpc>
            </a:pPr>
            <a:r>
              <a:rPr lang="en-US" sz="8499">
                <a:solidFill>
                  <a:srgbClr val="000000"/>
                </a:solidFill>
                <a:latin typeface="Anantason"/>
                <a:ea typeface="Anantason"/>
                <a:cs typeface="Anantason"/>
                <a:sym typeface="Anantason"/>
              </a:rPr>
              <a:t>Resource Page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4555" b="-34555"/>
            </a:stretch>
          </a:blipFill>
        </p:spPr>
        <p:txBody>
          <a:bodyPr/>
          <a:lstStyle/>
          <a:p>
            <a:endParaRPr lang="en-CA"/>
          </a:p>
        </p:txBody>
      </p:sp>
      <p:sp>
        <p:nvSpPr>
          <p:cNvPr id="3" name="TextBox 3"/>
          <p:cNvSpPr txBox="1"/>
          <p:nvPr/>
        </p:nvSpPr>
        <p:spPr>
          <a:xfrm>
            <a:off x="2995043" y="376509"/>
            <a:ext cx="12676118" cy="923925"/>
          </a:xfrm>
          <a:prstGeom prst="rect">
            <a:avLst/>
          </a:prstGeom>
        </p:spPr>
        <p:txBody>
          <a:bodyPr lIns="0" tIns="0" rIns="0" bIns="0" rtlCol="0" anchor="t">
            <a:spAutoFit/>
          </a:bodyPr>
          <a:lstStyle/>
          <a:p>
            <a:pPr algn="l">
              <a:lnSpc>
                <a:spcPts val="7320"/>
              </a:lnSpc>
            </a:pPr>
            <a:r>
              <a:rPr lang="en-US" sz="6100">
                <a:solidFill>
                  <a:srgbClr val="000000"/>
                </a:solidFill>
                <a:latin typeface="Anantason"/>
                <a:ea typeface="Anantason"/>
                <a:cs typeface="Anantason"/>
                <a:sym typeface="Anantason"/>
              </a:rPr>
              <a:t> Research Development Roadmap</a:t>
            </a:r>
          </a:p>
        </p:txBody>
      </p:sp>
      <p:sp>
        <p:nvSpPr>
          <p:cNvPr id="4" name="Freeform 4"/>
          <p:cNvSpPr/>
          <p:nvPr/>
        </p:nvSpPr>
        <p:spPr>
          <a:xfrm>
            <a:off x="10819701" y="1747819"/>
            <a:ext cx="10367048" cy="10677671"/>
          </a:xfrm>
          <a:custGeom>
            <a:avLst/>
            <a:gdLst/>
            <a:ahLst/>
            <a:cxnLst/>
            <a:rect l="l" t="t" r="r" b="b"/>
            <a:pathLst>
              <a:path w="10367048" h="10677671">
                <a:moveTo>
                  <a:pt x="0" y="0"/>
                </a:moveTo>
                <a:lnTo>
                  <a:pt x="10367048" y="0"/>
                </a:lnTo>
                <a:lnTo>
                  <a:pt x="10367048" y="10677671"/>
                </a:lnTo>
                <a:lnTo>
                  <a:pt x="0" y="106776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graphicFrame>
        <p:nvGraphicFramePr>
          <p:cNvPr id="5" name="Table 5"/>
          <p:cNvGraphicFramePr>
            <a:graphicFrameLocks noGrp="1"/>
          </p:cNvGraphicFramePr>
          <p:nvPr/>
        </p:nvGraphicFramePr>
        <p:xfrm>
          <a:off x="619570" y="2847594"/>
          <a:ext cx="16817526" cy="4857750"/>
        </p:xfrm>
        <a:graphic>
          <a:graphicData uri="http://schemas.openxmlformats.org/drawingml/2006/table">
            <a:tbl>
              <a:tblPr/>
              <a:tblGrid>
                <a:gridCol w="4332293">
                  <a:extLst>
                    <a:ext uri="{9D8B030D-6E8A-4147-A177-3AD203B41FA5}">
                      <a16:colId xmlns:a16="http://schemas.microsoft.com/office/drawing/2014/main" val="20000"/>
                    </a:ext>
                  </a:extLst>
                </a:gridCol>
                <a:gridCol w="10169755">
                  <a:extLst>
                    <a:ext uri="{9D8B030D-6E8A-4147-A177-3AD203B41FA5}">
                      <a16:colId xmlns:a16="http://schemas.microsoft.com/office/drawing/2014/main" val="20001"/>
                    </a:ext>
                  </a:extLst>
                </a:gridCol>
                <a:gridCol w="2315478">
                  <a:extLst>
                    <a:ext uri="{9D8B030D-6E8A-4147-A177-3AD203B41FA5}">
                      <a16:colId xmlns:a16="http://schemas.microsoft.com/office/drawing/2014/main" val="20002"/>
                    </a:ext>
                  </a:extLst>
                </a:gridCol>
              </a:tblGrid>
              <a:tr h="1243125">
                <a:tc>
                  <a:txBody>
                    <a:bodyPr/>
                    <a:lstStyle/>
                    <a:p>
                      <a:pPr algn="ctr">
                        <a:lnSpc>
                          <a:spcPts val="4200"/>
                        </a:lnSpc>
                        <a:defRPr/>
                      </a:pPr>
                      <a:r>
                        <a:rPr lang="en-US" sz="3000">
                          <a:solidFill>
                            <a:srgbClr val="000000"/>
                          </a:solidFill>
                          <a:latin typeface="Anantason"/>
                          <a:ea typeface="Anantason"/>
                          <a:cs typeface="Anantason"/>
                          <a:sym typeface="Anantason"/>
                        </a:rPr>
                        <a:t>Development Title</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A9F1"/>
                    </a:solidFill>
                  </a:tcPr>
                </a:tc>
                <a:tc>
                  <a:txBody>
                    <a:bodyPr/>
                    <a:lstStyle/>
                    <a:p>
                      <a:pPr algn="ctr">
                        <a:lnSpc>
                          <a:spcPts val="4200"/>
                        </a:lnSpc>
                        <a:defRPr/>
                      </a:pPr>
                      <a:r>
                        <a:rPr lang="en-US" sz="3000">
                          <a:solidFill>
                            <a:srgbClr val="000000"/>
                          </a:solidFill>
                          <a:latin typeface="Anantason"/>
                          <a:ea typeface="Anantason"/>
                          <a:cs typeface="Anantason"/>
                          <a:sym typeface="Anantason"/>
                        </a:rPr>
                        <a:t>Objectives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A9F1"/>
                    </a:solidFill>
                  </a:tcPr>
                </a:tc>
                <a:tc>
                  <a:txBody>
                    <a:bodyPr/>
                    <a:lstStyle/>
                    <a:p>
                      <a:pPr algn="ctr">
                        <a:lnSpc>
                          <a:spcPts val="4200"/>
                        </a:lnSpc>
                        <a:defRPr/>
                      </a:pPr>
                      <a:r>
                        <a:rPr lang="en-US" sz="3000">
                          <a:solidFill>
                            <a:srgbClr val="000000"/>
                          </a:solidFill>
                          <a:latin typeface="Anantason"/>
                          <a:ea typeface="Anantason"/>
                          <a:cs typeface="Anantason"/>
                          <a:sym typeface="Anantason"/>
                        </a:rPr>
                        <a:t>Deadline</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E2A9F1"/>
                    </a:solidFill>
                  </a:tcPr>
                </a:tc>
                <a:extLst>
                  <a:ext uri="{0D108BD9-81ED-4DB2-BD59-A6C34878D82A}">
                    <a16:rowId xmlns:a16="http://schemas.microsoft.com/office/drawing/2014/main" val="10000"/>
                  </a:ext>
                </a:extLst>
              </a:tr>
              <a:tr h="1204875">
                <a:tc>
                  <a:txBody>
                    <a:bodyPr/>
                    <a:lstStyle/>
                    <a:p>
                      <a:pPr algn="l">
                        <a:lnSpc>
                          <a:spcPts val="2940"/>
                        </a:lnSpc>
                        <a:defRPr/>
                      </a:pPr>
                      <a:r>
                        <a:rPr lang="en-US" sz="2100">
                          <a:solidFill>
                            <a:srgbClr val="000000"/>
                          </a:solidFill>
                          <a:latin typeface="Muli"/>
                          <a:ea typeface="Muli"/>
                          <a:cs typeface="Muli"/>
                          <a:sym typeface="Muli"/>
                        </a:rPr>
                        <a:t>Modular Software-Defined Vehicle</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algn="l">
                        <a:lnSpc>
                          <a:spcPts val="2940"/>
                        </a:lnSpc>
                        <a:defRPr/>
                      </a:pPr>
                      <a:r>
                        <a:rPr lang="en-US" sz="2100" dirty="0">
                          <a:solidFill>
                            <a:srgbClr val="000000"/>
                          </a:solidFill>
                          <a:latin typeface="Muli"/>
                          <a:ea typeface="Muli"/>
                          <a:cs typeface="Muli"/>
                          <a:sym typeface="Muli"/>
                        </a:rPr>
                        <a:t>Built an end-to-end self-driving car simulation in Carla for day/night scenarios focusing on topological and array-based sensor visualization.</a:t>
                      </a:r>
                      <a:endParaRPr lang="en-US" sz="1100" dirty="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algn="l">
                        <a:lnSpc>
                          <a:spcPts val="2940"/>
                        </a:lnSpc>
                        <a:defRPr/>
                      </a:pPr>
                      <a:r>
                        <a:rPr lang="en-US" sz="2100" b="1">
                          <a:solidFill>
                            <a:srgbClr val="000000"/>
                          </a:solidFill>
                          <a:latin typeface="Muli Bold"/>
                          <a:ea typeface="Muli Bold"/>
                          <a:cs typeface="Muli Bold"/>
                          <a:sym typeface="Muli Bold"/>
                        </a:rPr>
                        <a:t>Completed.</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extLst>
                  <a:ext uri="{0D108BD9-81ED-4DB2-BD59-A6C34878D82A}">
                    <a16:rowId xmlns:a16="http://schemas.microsoft.com/office/drawing/2014/main" val="10001"/>
                  </a:ext>
                </a:extLst>
              </a:tr>
              <a:tr h="1204875">
                <a:tc>
                  <a:txBody>
                    <a:bodyPr/>
                    <a:lstStyle/>
                    <a:p>
                      <a:pPr algn="l">
                        <a:lnSpc>
                          <a:spcPts val="2940"/>
                        </a:lnSpc>
                        <a:defRPr/>
                      </a:pPr>
                      <a:r>
                        <a:rPr lang="en-US" sz="2100">
                          <a:solidFill>
                            <a:srgbClr val="000000"/>
                          </a:solidFill>
                          <a:latin typeface="Muli"/>
                          <a:ea typeface="Muli"/>
                          <a:cs typeface="Muli"/>
                          <a:sym typeface="Muli"/>
                        </a:rPr>
                        <a:t>Lunar Lander (Discrete action spaces)</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algn="l">
                        <a:lnSpc>
                          <a:spcPts val="2939"/>
                        </a:lnSpc>
                        <a:defRPr/>
                      </a:pPr>
                      <a:r>
                        <a:rPr lang="en-US" sz="2099">
                          <a:solidFill>
                            <a:srgbClr val="000000"/>
                          </a:solidFill>
                          <a:latin typeface="Arimo"/>
                          <a:ea typeface="Arimo"/>
                          <a:cs typeface="Arimo"/>
                          <a:sym typeface="Arimo"/>
                        </a:rPr>
                        <a:t>Applied the PPO pipeline to Train a Lunar Lander agent to land safely using Discrete action spaces in Gymnasium environment.</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algn="l">
                        <a:lnSpc>
                          <a:spcPts val="2939"/>
                        </a:lnSpc>
                        <a:defRPr/>
                      </a:pPr>
                      <a:r>
                        <a:rPr lang="en-US" sz="2099" b="1">
                          <a:solidFill>
                            <a:srgbClr val="000000"/>
                          </a:solidFill>
                          <a:latin typeface="Arimo Bold"/>
                          <a:ea typeface="Arimo Bold"/>
                          <a:cs typeface="Arimo Bold"/>
                          <a:sym typeface="Arimo Bold"/>
                        </a:rPr>
                        <a:t>Completed.</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extLst>
                  <a:ext uri="{0D108BD9-81ED-4DB2-BD59-A6C34878D82A}">
                    <a16:rowId xmlns:a16="http://schemas.microsoft.com/office/drawing/2014/main" val="10002"/>
                  </a:ext>
                </a:extLst>
              </a:tr>
              <a:tr h="1204875">
                <a:tc>
                  <a:txBody>
                    <a:bodyPr/>
                    <a:lstStyle/>
                    <a:p>
                      <a:pPr algn="l">
                        <a:lnSpc>
                          <a:spcPts val="2939"/>
                        </a:lnSpc>
                        <a:defRPr/>
                      </a:pPr>
                      <a:r>
                        <a:rPr lang="en-US" sz="2099">
                          <a:solidFill>
                            <a:srgbClr val="000000"/>
                          </a:solidFill>
                          <a:latin typeface="Muli"/>
                          <a:ea typeface="Muli"/>
                          <a:cs typeface="Muli"/>
                          <a:sym typeface="Muli"/>
                        </a:rPr>
                        <a:t>Car-Race (Continuous RL)</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algn="l">
                        <a:lnSpc>
                          <a:spcPts val="2939"/>
                        </a:lnSpc>
                        <a:defRPr/>
                      </a:pPr>
                      <a:r>
                        <a:rPr lang="en-US" sz="2099">
                          <a:solidFill>
                            <a:srgbClr val="000000"/>
                          </a:solidFill>
                          <a:latin typeface="Arimo"/>
                          <a:ea typeface="Arimo"/>
                          <a:cs typeface="Arimo"/>
                          <a:sym typeface="Arimo"/>
                        </a:rPr>
                        <a:t>Applied the PPO pipeline to train a single continuous policy car-racing agent to get the maximum score within the time constraint in Gymnasium environment.</a:t>
                      </a:r>
                      <a:endParaRPr lang="en-US" sz="110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tc>
                  <a:txBody>
                    <a:bodyPr/>
                    <a:lstStyle/>
                    <a:p>
                      <a:pPr algn="l">
                        <a:lnSpc>
                          <a:spcPts val="2939"/>
                        </a:lnSpc>
                        <a:defRPr/>
                      </a:pPr>
                      <a:r>
                        <a:rPr lang="en-US" sz="2099" b="1" dirty="0">
                          <a:solidFill>
                            <a:srgbClr val="000000"/>
                          </a:solidFill>
                          <a:latin typeface="Arimo Bold"/>
                          <a:ea typeface="Arimo Bold"/>
                          <a:cs typeface="Arimo Bold"/>
                          <a:sym typeface="Arimo Bold"/>
                        </a:rPr>
                        <a:t>Completed.</a:t>
                      </a:r>
                      <a:endParaRPr lang="en-US" sz="1100" dirty="0"/>
                    </a:p>
                  </a:txBody>
                  <a:tcPr marL="190500" marR="190500" marT="190500" marB="19050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4F4F4"/>
                    </a:solidFill>
                  </a:tcPr>
                </a:tc>
                <a:extLst>
                  <a:ext uri="{0D108BD9-81ED-4DB2-BD59-A6C34878D82A}">
                    <a16:rowId xmlns:a16="http://schemas.microsoft.com/office/drawing/2014/main" val="10003"/>
                  </a:ext>
                </a:extLst>
              </a:tr>
            </a:tbl>
          </a:graphicData>
        </a:graphic>
      </p:graphicFrame>
      <p:sp>
        <p:nvSpPr>
          <p:cNvPr id="6" name="TextBox 6"/>
          <p:cNvSpPr txBox="1"/>
          <p:nvPr/>
        </p:nvSpPr>
        <p:spPr>
          <a:xfrm>
            <a:off x="619570" y="1497767"/>
            <a:ext cx="17427064" cy="1607185"/>
          </a:xfrm>
          <a:prstGeom prst="rect">
            <a:avLst/>
          </a:prstGeom>
        </p:spPr>
        <p:txBody>
          <a:bodyPr lIns="0" tIns="0" rIns="0" bIns="0" rtlCol="0" anchor="t">
            <a:spAutoFit/>
          </a:bodyPr>
          <a:lstStyle/>
          <a:p>
            <a:pPr algn="ctr">
              <a:lnSpc>
                <a:spcPts val="3220"/>
              </a:lnSpc>
              <a:spcBef>
                <a:spcPct val="0"/>
              </a:spcBef>
            </a:pPr>
            <a:r>
              <a:rPr lang="en-US" sz="2300">
                <a:solidFill>
                  <a:srgbClr val="000000"/>
                </a:solidFill>
                <a:latin typeface="Muli"/>
                <a:ea typeface="Muli"/>
                <a:cs typeface="Muli"/>
                <a:sym typeface="Muli"/>
              </a:rPr>
              <a:t>The project timeline is strategically structured to demonstrate feasibility and adherence to the Timebound element of the SMART framework and will proceed through a sequential, escalating path of complexity, focused on maximizing agent development and efficiency.</a:t>
            </a:r>
          </a:p>
          <a:p>
            <a:pPr algn="ctr">
              <a:lnSpc>
                <a:spcPts val="3359"/>
              </a:lnSpc>
              <a:spcBef>
                <a:spcPct val="0"/>
              </a:spcBef>
            </a:pPr>
            <a:endParaRPr lang="en-US" sz="2300">
              <a:solidFill>
                <a:srgbClr val="000000"/>
              </a:solidFill>
              <a:latin typeface="Muli"/>
              <a:ea typeface="Muli"/>
              <a:cs typeface="Muli"/>
              <a:sym typeface="Muli"/>
            </a:endParaRPr>
          </a:p>
        </p:txBody>
      </p:sp>
      <p:sp>
        <p:nvSpPr>
          <p:cNvPr id="7" name="TextBox 7"/>
          <p:cNvSpPr txBox="1"/>
          <p:nvPr/>
        </p:nvSpPr>
        <p:spPr>
          <a:xfrm>
            <a:off x="0" y="8334375"/>
            <a:ext cx="17437097" cy="743793"/>
          </a:xfrm>
          <a:prstGeom prst="rect">
            <a:avLst/>
          </a:prstGeom>
        </p:spPr>
        <p:txBody>
          <a:bodyPr lIns="0" tIns="0" rIns="0" bIns="0" rtlCol="0" anchor="t">
            <a:spAutoFit/>
          </a:bodyPr>
          <a:lstStyle/>
          <a:p>
            <a:pPr algn="ctr">
              <a:lnSpc>
                <a:spcPts val="2880"/>
              </a:lnSpc>
              <a:spcBef>
                <a:spcPct val="0"/>
              </a:spcBef>
            </a:pPr>
            <a:r>
              <a:rPr lang="en-US" sz="2400" dirty="0">
                <a:solidFill>
                  <a:srgbClr val="000000"/>
                </a:solidFill>
                <a:latin typeface="Anantason"/>
                <a:ea typeface="Anantason"/>
                <a:cs typeface="Anantason"/>
                <a:sym typeface="Anantason"/>
              </a:rPr>
              <a:t>Phase 2 is currently in the research and development stage but it would contain additional transportation agents. More details in the “Research and Development Proposal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834</TotalTime>
  <Words>2290</Words>
  <Application>Microsoft Office PowerPoint</Application>
  <PresentationFormat>Custom</PresentationFormat>
  <Paragraphs>171</Paragraphs>
  <Slides>15</Slides>
  <Notes>0</Notes>
  <HiddenSlides>0</HiddenSlides>
  <MMClips>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Anantason</vt:lpstr>
      <vt:lpstr>Arimo</vt:lpstr>
      <vt:lpstr>Arial</vt:lpstr>
      <vt:lpstr>Anantason Bold</vt:lpstr>
      <vt:lpstr>Arimo Bold</vt:lpstr>
      <vt:lpstr>Muli</vt:lpstr>
      <vt:lpstr>Calibri</vt:lpstr>
      <vt:lpstr>Muli Semi-Bold</vt:lpstr>
      <vt:lpstr>Muli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Proposal Business Presentation in Purple Green Orange Gradients Style</dc:title>
  <cp:lastModifiedBy>Akinkunmi Ola</cp:lastModifiedBy>
  <cp:revision>2</cp:revision>
  <dcterms:created xsi:type="dcterms:W3CDTF">2006-08-16T00:00:00Z</dcterms:created>
  <dcterms:modified xsi:type="dcterms:W3CDTF">2025-12-13T11:57:24Z</dcterms:modified>
  <dc:identifier>DAG1p75pAo8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{"Label":"1","ContentProducer":"001191110105MA01AN806X00000","ProduceID":"DAG1p75pAo8","ReservedCode1":"","ContentPropagator":"001191110105MA01AN806X00000","PropagateID":"DAG1p75pAo8","ReservedCode2":""}</vt:lpwstr>
  </property>
</Properties>
</file>